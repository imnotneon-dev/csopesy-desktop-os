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Courier New Bold" charset="1" panose="02070609020205020404"/>
      <p:regular r:id="rId12"/>
    </p:embeddedFont>
    <p:embeddedFont>
      <p:font typeface="Arial Bold" charset="1" panose="020B0704020202020204"/>
      <p:regular r:id="rId13"/>
    </p:embeddedFont>
    <p:embeddedFont>
      <p:font typeface="Consolas Bold" charset="1" panose="020B0709020204030204"/>
      <p:regular r:id="rId14"/>
    </p:embeddedFont>
    <p:embeddedFont>
      <p:font typeface="Consolas" charset="1" panose="020B0609020204030204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VAHXyYNTzQo.mp4" Type="http://schemas.openxmlformats.org/officeDocument/2006/relationships/video"/><Relationship Id="rId4" Target="../media/VAHXyYNTzQo.mp4" Type="http://schemas.microsoft.com/office/2007/relationships/media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615039" y="8993505"/>
            <a:ext cx="6595014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2100" b="true">
                <a:solidFill>
                  <a:srgbClr val="B4B4B4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CSOPESY   [   ]</a:t>
            </a:r>
          </a:p>
          <a:p>
            <a:pPr algn="r">
              <a:lnSpc>
                <a:spcPts val="2100"/>
              </a:lnSpc>
              <a:spcBef>
                <a:spcPct val="0"/>
              </a:spcBef>
            </a:pPr>
            <a:r>
              <a:rPr lang="en-US" b="true" sz="2100">
                <a:solidFill>
                  <a:srgbClr val="B4B4B4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S01   [   ]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6724991" y="9310819"/>
            <a:ext cx="170029" cy="170029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9BC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76200" y="104775"/>
              <a:ext cx="660400" cy="6318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6724991" y="9036448"/>
            <a:ext cx="170029" cy="170029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71FF88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104775"/>
              <a:ext cx="660400" cy="6318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028700" y="3506522"/>
            <a:ext cx="15894895" cy="2751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445"/>
              </a:lnSpc>
            </a:pPr>
            <a:r>
              <a:rPr lang="en-US" sz="10445" b="true">
                <a:solidFill>
                  <a:srgbClr val="71FF88"/>
                </a:solidFill>
                <a:latin typeface="Arial Bold"/>
                <a:ea typeface="Arial Bold"/>
                <a:cs typeface="Arial Bold"/>
                <a:sym typeface="Arial Bold"/>
              </a:rPr>
              <a:t>CSOPESY</a:t>
            </a:r>
          </a:p>
          <a:p>
            <a:pPr algn="l">
              <a:lnSpc>
                <a:spcPts val="10445"/>
              </a:lnSpc>
            </a:pPr>
            <a:r>
              <a:rPr lang="en-US" sz="10445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D</a:t>
            </a:r>
            <a:r>
              <a:rPr lang="en-US" sz="10445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esktop OS Mock-up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8726805"/>
            <a:ext cx="6595014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b="true" sz="2100">
                <a:solidFill>
                  <a:srgbClr val="B4B4B4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// Guillermo, Iain</a:t>
            </a:r>
          </a:p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b="true" sz="2100">
                <a:solidFill>
                  <a:srgbClr val="B4B4B4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// Lee, Hannah</a:t>
            </a:r>
          </a:p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b="true" sz="2100">
                <a:solidFill>
                  <a:srgbClr val="B4B4B4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// Lim, Jenrick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50725" y="1516282"/>
            <a:ext cx="14586550" cy="8293622"/>
            <a:chOff x="0" y="0"/>
            <a:chExt cx="3841725" cy="218432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841725" cy="2184328"/>
            </a:xfrm>
            <a:custGeom>
              <a:avLst/>
              <a:gdLst/>
              <a:ahLst/>
              <a:cxnLst/>
              <a:rect r="r" b="b" t="t" l="l"/>
              <a:pathLst>
                <a:path h="2184328" w="3841725">
                  <a:moveTo>
                    <a:pt x="10615" y="0"/>
                  </a:moveTo>
                  <a:lnTo>
                    <a:pt x="3831110" y="0"/>
                  </a:lnTo>
                  <a:cubicBezTo>
                    <a:pt x="3833925" y="0"/>
                    <a:pt x="3836626" y="1118"/>
                    <a:pt x="3838616" y="3109"/>
                  </a:cubicBezTo>
                  <a:cubicBezTo>
                    <a:pt x="3840607" y="5100"/>
                    <a:pt x="3841725" y="7800"/>
                    <a:pt x="3841725" y="10615"/>
                  </a:cubicBezTo>
                  <a:lnTo>
                    <a:pt x="3841725" y="2173713"/>
                  </a:lnTo>
                  <a:cubicBezTo>
                    <a:pt x="3841725" y="2176529"/>
                    <a:pt x="3840607" y="2179229"/>
                    <a:pt x="3838616" y="2181219"/>
                  </a:cubicBezTo>
                  <a:cubicBezTo>
                    <a:pt x="3836626" y="2183210"/>
                    <a:pt x="3833925" y="2184328"/>
                    <a:pt x="3831110" y="2184328"/>
                  </a:cubicBezTo>
                  <a:lnTo>
                    <a:pt x="10615" y="2184328"/>
                  </a:lnTo>
                  <a:cubicBezTo>
                    <a:pt x="7800" y="2184328"/>
                    <a:pt x="5100" y="2183210"/>
                    <a:pt x="3109" y="2181219"/>
                  </a:cubicBezTo>
                  <a:cubicBezTo>
                    <a:pt x="1118" y="2179229"/>
                    <a:pt x="0" y="2176529"/>
                    <a:pt x="0" y="2173713"/>
                  </a:cubicBezTo>
                  <a:lnTo>
                    <a:pt x="0" y="10615"/>
                  </a:lnTo>
                  <a:cubicBezTo>
                    <a:pt x="0" y="7800"/>
                    <a:pt x="1118" y="5100"/>
                    <a:pt x="3109" y="3109"/>
                  </a:cubicBezTo>
                  <a:cubicBezTo>
                    <a:pt x="5100" y="1118"/>
                    <a:pt x="7800" y="0"/>
                    <a:pt x="10615" y="0"/>
                  </a:cubicBezTo>
                  <a:close/>
                </a:path>
              </a:pathLst>
            </a:custGeom>
            <a:solidFill>
              <a:srgbClr val="1E1E1E"/>
            </a:solidFill>
            <a:ln w="19050" cap="sq">
              <a:solidFill>
                <a:srgbClr val="444444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3841725" cy="21557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2304920" y="1658426"/>
            <a:ext cx="13678161" cy="8009333"/>
          </a:xfrm>
          <a:custGeom>
            <a:avLst/>
            <a:gdLst/>
            <a:ahLst/>
            <a:cxnLst/>
            <a:rect r="r" b="b" t="t" l="l"/>
            <a:pathLst>
              <a:path h="8009333" w="13678161">
                <a:moveTo>
                  <a:pt x="0" y="0"/>
                </a:moveTo>
                <a:lnTo>
                  <a:pt x="13678160" y="0"/>
                </a:lnTo>
                <a:lnTo>
                  <a:pt x="13678160" y="8009333"/>
                </a:lnTo>
                <a:lnTo>
                  <a:pt x="0" y="80093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416974" y="543771"/>
            <a:ext cx="7429429" cy="688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00"/>
              </a:lnSpc>
            </a:pPr>
            <a:r>
              <a:rPr lang="en-US" sz="50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Cover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50725" y="1516282"/>
            <a:ext cx="14586550" cy="8293622"/>
            <a:chOff x="0" y="0"/>
            <a:chExt cx="3841725" cy="218432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841725" cy="2184328"/>
            </a:xfrm>
            <a:custGeom>
              <a:avLst/>
              <a:gdLst/>
              <a:ahLst/>
              <a:cxnLst/>
              <a:rect r="r" b="b" t="t" l="l"/>
              <a:pathLst>
                <a:path h="2184328" w="3841725">
                  <a:moveTo>
                    <a:pt x="10615" y="0"/>
                  </a:moveTo>
                  <a:lnTo>
                    <a:pt x="3831110" y="0"/>
                  </a:lnTo>
                  <a:cubicBezTo>
                    <a:pt x="3833925" y="0"/>
                    <a:pt x="3836626" y="1118"/>
                    <a:pt x="3838616" y="3109"/>
                  </a:cubicBezTo>
                  <a:cubicBezTo>
                    <a:pt x="3840607" y="5100"/>
                    <a:pt x="3841725" y="7800"/>
                    <a:pt x="3841725" y="10615"/>
                  </a:cubicBezTo>
                  <a:lnTo>
                    <a:pt x="3841725" y="2173713"/>
                  </a:lnTo>
                  <a:cubicBezTo>
                    <a:pt x="3841725" y="2176529"/>
                    <a:pt x="3840607" y="2179229"/>
                    <a:pt x="3838616" y="2181219"/>
                  </a:cubicBezTo>
                  <a:cubicBezTo>
                    <a:pt x="3836626" y="2183210"/>
                    <a:pt x="3833925" y="2184328"/>
                    <a:pt x="3831110" y="2184328"/>
                  </a:cubicBezTo>
                  <a:lnTo>
                    <a:pt x="10615" y="2184328"/>
                  </a:lnTo>
                  <a:cubicBezTo>
                    <a:pt x="7800" y="2184328"/>
                    <a:pt x="5100" y="2183210"/>
                    <a:pt x="3109" y="2181219"/>
                  </a:cubicBezTo>
                  <a:cubicBezTo>
                    <a:pt x="1118" y="2179229"/>
                    <a:pt x="0" y="2176529"/>
                    <a:pt x="0" y="2173713"/>
                  </a:cubicBezTo>
                  <a:lnTo>
                    <a:pt x="0" y="10615"/>
                  </a:lnTo>
                  <a:cubicBezTo>
                    <a:pt x="0" y="7800"/>
                    <a:pt x="1118" y="5100"/>
                    <a:pt x="3109" y="3109"/>
                  </a:cubicBezTo>
                  <a:cubicBezTo>
                    <a:pt x="5100" y="1118"/>
                    <a:pt x="7800" y="0"/>
                    <a:pt x="10615" y="0"/>
                  </a:cubicBezTo>
                  <a:close/>
                </a:path>
              </a:pathLst>
            </a:custGeom>
            <a:solidFill>
              <a:srgbClr val="1E1E1E"/>
            </a:solidFill>
            <a:ln w="19050" cap="sq">
              <a:solidFill>
                <a:srgbClr val="444444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3841725" cy="21557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pic>
        <p:nvPicPr>
          <p:cNvPr name="Picture 5" id="5">
            <a:hlinkClick action="ppaction://media"/>
          </p:cNvPr>
          <p:cNvPicPr>
            <a:picLocks noChangeAspect="true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2156958" y="1739807"/>
            <a:ext cx="13949461" cy="7846572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5416974" y="543771"/>
            <a:ext cx="7429429" cy="688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00"/>
              </a:lnSpc>
            </a:pPr>
            <a:r>
              <a:rPr lang="en-US" sz="50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 Video Walkthrough</a:t>
            </a:r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02230" y="1128619"/>
            <a:ext cx="9662347" cy="2669821"/>
            <a:chOff x="0" y="0"/>
            <a:chExt cx="2544816" cy="70316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44816" cy="703163"/>
            </a:xfrm>
            <a:custGeom>
              <a:avLst/>
              <a:gdLst/>
              <a:ahLst/>
              <a:cxnLst/>
              <a:rect r="r" b="b" t="t" l="l"/>
              <a:pathLst>
                <a:path h="703163" w="2544816">
                  <a:moveTo>
                    <a:pt x="16025" y="0"/>
                  </a:moveTo>
                  <a:lnTo>
                    <a:pt x="2528791" y="0"/>
                  </a:lnTo>
                  <a:cubicBezTo>
                    <a:pt x="2537641" y="0"/>
                    <a:pt x="2544816" y="7175"/>
                    <a:pt x="2544816" y="16025"/>
                  </a:cubicBezTo>
                  <a:lnTo>
                    <a:pt x="2544816" y="687138"/>
                  </a:lnTo>
                  <a:cubicBezTo>
                    <a:pt x="2544816" y="695988"/>
                    <a:pt x="2537641" y="703163"/>
                    <a:pt x="2528791" y="703163"/>
                  </a:cubicBezTo>
                  <a:lnTo>
                    <a:pt x="16025" y="703163"/>
                  </a:lnTo>
                  <a:cubicBezTo>
                    <a:pt x="7175" y="703163"/>
                    <a:pt x="0" y="695988"/>
                    <a:pt x="0" y="687138"/>
                  </a:cubicBezTo>
                  <a:lnTo>
                    <a:pt x="0" y="16025"/>
                  </a:lnTo>
                  <a:cubicBezTo>
                    <a:pt x="0" y="7175"/>
                    <a:pt x="7175" y="0"/>
                    <a:pt x="16025" y="0"/>
                  </a:cubicBezTo>
                  <a:close/>
                </a:path>
              </a:pathLst>
            </a:custGeom>
            <a:solidFill>
              <a:srgbClr val="1E1E1E"/>
            </a:solidFill>
            <a:ln w="19050" cap="sq">
              <a:solidFill>
                <a:srgbClr val="444444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2544816" cy="6745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1449190" y="6979097"/>
            <a:ext cx="5196592" cy="13176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0"/>
              </a:lnSpc>
            </a:pPr>
            <a:r>
              <a:rPr lang="en-US" sz="50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Architectural Diagram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276980" y="1473145"/>
            <a:ext cx="5512847" cy="291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b="true" sz="2100">
                <a:solidFill>
                  <a:srgbClr val="FFFFFF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USER INTERFACE LAYER (Dear ImGui)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632025" y="2021785"/>
            <a:ext cx="2800903" cy="601594"/>
            <a:chOff x="0" y="0"/>
            <a:chExt cx="737686" cy="15844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37686" cy="158445"/>
            </a:xfrm>
            <a:custGeom>
              <a:avLst/>
              <a:gdLst/>
              <a:ahLst/>
              <a:cxnLst/>
              <a:rect r="r" b="b" t="t" l="l"/>
              <a:pathLst>
                <a:path h="158445" w="737686">
                  <a:moveTo>
                    <a:pt x="27641" y="0"/>
                  </a:moveTo>
                  <a:lnTo>
                    <a:pt x="710046" y="0"/>
                  </a:lnTo>
                  <a:cubicBezTo>
                    <a:pt x="725311" y="0"/>
                    <a:pt x="737686" y="12375"/>
                    <a:pt x="737686" y="27641"/>
                  </a:cubicBezTo>
                  <a:lnTo>
                    <a:pt x="737686" y="130804"/>
                  </a:lnTo>
                  <a:cubicBezTo>
                    <a:pt x="737686" y="146069"/>
                    <a:pt x="725311" y="158445"/>
                    <a:pt x="710046" y="158445"/>
                  </a:cubicBezTo>
                  <a:lnTo>
                    <a:pt x="27641" y="158445"/>
                  </a:lnTo>
                  <a:cubicBezTo>
                    <a:pt x="12375" y="158445"/>
                    <a:pt x="0" y="146069"/>
                    <a:pt x="0" y="130804"/>
                  </a:cubicBezTo>
                  <a:lnTo>
                    <a:pt x="0" y="27641"/>
                  </a:lnTo>
                  <a:cubicBezTo>
                    <a:pt x="0" y="12375"/>
                    <a:pt x="12375" y="0"/>
                    <a:pt x="27641" y="0"/>
                  </a:cubicBezTo>
                  <a:close/>
                </a:path>
              </a:pathLst>
            </a:custGeom>
            <a:solidFill>
              <a:srgbClr val="384237"/>
            </a:solidFill>
            <a:ln w="19050" cap="sq">
              <a:solidFill>
                <a:srgbClr val="71FF88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19050"/>
              <a:ext cx="737686" cy="1393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b="true" sz="1800">
                  <a:solidFill>
                    <a:srgbClr val="71FF88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RenderDesktop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632025" y="2880896"/>
            <a:ext cx="2800903" cy="601594"/>
            <a:chOff x="0" y="0"/>
            <a:chExt cx="737686" cy="15844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37686" cy="158445"/>
            </a:xfrm>
            <a:custGeom>
              <a:avLst/>
              <a:gdLst/>
              <a:ahLst/>
              <a:cxnLst/>
              <a:rect r="r" b="b" t="t" l="l"/>
              <a:pathLst>
                <a:path h="158445" w="737686">
                  <a:moveTo>
                    <a:pt x="27641" y="0"/>
                  </a:moveTo>
                  <a:lnTo>
                    <a:pt x="710046" y="0"/>
                  </a:lnTo>
                  <a:cubicBezTo>
                    <a:pt x="725311" y="0"/>
                    <a:pt x="737686" y="12375"/>
                    <a:pt x="737686" y="27641"/>
                  </a:cubicBezTo>
                  <a:lnTo>
                    <a:pt x="737686" y="130804"/>
                  </a:lnTo>
                  <a:cubicBezTo>
                    <a:pt x="737686" y="146069"/>
                    <a:pt x="725311" y="158445"/>
                    <a:pt x="710046" y="158445"/>
                  </a:cubicBezTo>
                  <a:lnTo>
                    <a:pt x="27641" y="158445"/>
                  </a:lnTo>
                  <a:cubicBezTo>
                    <a:pt x="12375" y="158445"/>
                    <a:pt x="0" y="146069"/>
                    <a:pt x="0" y="130804"/>
                  </a:cubicBezTo>
                  <a:lnTo>
                    <a:pt x="0" y="27641"/>
                  </a:lnTo>
                  <a:cubicBezTo>
                    <a:pt x="0" y="12375"/>
                    <a:pt x="12375" y="0"/>
                    <a:pt x="27641" y="0"/>
                  </a:cubicBezTo>
                  <a:close/>
                </a:path>
              </a:pathLst>
            </a:custGeom>
            <a:solidFill>
              <a:srgbClr val="373942"/>
            </a:solidFill>
            <a:ln w="19050" cap="sq">
              <a:solidFill>
                <a:srgbClr val="49BCFF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19050"/>
              <a:ext cx="737686" cy="1393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b="true" sz="1800">
                  <a:solidFill>
                    <a:srgbClr val="49BCF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RenderF</a:t>
              </a:r>
              <a:r>
                <a:rPr lang="en-US" b="true" sz="1800">
                  <a:solidFill>
                    <a:srgbClr val="49BCF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ilesWindow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632952" y="2021785"/>
            <a:ext cx="2800903" cy="601594"/>
            <a:chOff x="0" y="0"/>
            <a:chExt cx="737686" cy="15844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37686" cy="158445"/>
            </a:xfrm>
            <a:custGeom>
              <a:avLst/>
              <a:gdLst/>
              <a:ahLst/>
              <a:cxnLst/>
              <a:rect r="r" b="b" t="t" l="l"/>
              <a:pathLst>
                <a:path h="158445" w="737686">
                  <a:moveTo>
                    <a:pt x="27641" y="0"/>
                  </a:moveTo>
                  <a:lnTo>
                    <a:pt x="710046" y="0"/>
                  </a:lnTo>
                  <a:cubicBezTo>
                    <a:pt x="725311" y="0"/>
                    <a:pt x="737686" y="12375"/>
                    <a:pt x="737686" y="27641"/>
                  </a:cubicBezTo>
                  <a:lnTo>
                    <a:pt x="737686" y="130804"/>
                  </a:lnTo>
                  <a:cubicBezTo>
                    <a:pt x="737686" y="146069"/>
                    <a:pt x="725311" y="158445"/>
                    <a:pt x="710046" y="158445"/>
                  </a:cubicBezTo>
                  <a:lnTo>
                    <a:pt x="27641" y="158445"/>
                  </a:lnTo>
                  <a:cubicBezTo>
                    <a:pt x="12375" y="158445"/>
                    <a:pt x="0" y="146069"/>
                    <a:pt x="0" y="130804"/>
                  </a:cubicBezTo>
                  <a:lnTo>
                    <a:pt x="0" y="27641"/>
                  </a:lnTo>
                  <a:cubicBezTo>
                    <a:pt x="0" y="12375"/>
                    <a:pt x="12375" y="0"/>
                    <a:pt x="27641" y="0"/>
                  </a:cubicBezTo>
                  <a:close/>
                </a:path>
              </a:pathLst>
            </a:custGeom>
            <a:solidFill>
              <a:srgbClr val="384237"/>
            </a:solidFill>
            <a:ln w="19050" cap="sq">
              <a:solidFill>
                <a:srgbClr val="71FF88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19050"/>
              <a:ext cx="737686" cy="1393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b="true" sz="1800">
                  <a:solidFill>
                    <a:srgbClr val="71FF88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RenderTaskbar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7633880" y="2021785"/>
            <a:ext cx="2800903" cy="601594"/>
            <a:chOff x="0" y="0"/>
            <a:chExt cx="737686" cy="15844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37686" cy="158445"/>
            </a:xfrm>
            <a:custGeom>
              <a:avLst/>
              <a:gdLst/>
              <a:ahLst/>
              <a:cxnLst/>
              <a:rect r="r" b="b" t="t" l="l"/>
              <a:pathLst>
                <a:path h="158445" w="737686">
                  <a:moveTo>
                    <a:pt x="27641" y="0"/>
                  </a:moveTo>
                  <a:lnTo>
                    <a:pt x="710046" y="0"/>
                  </a:lnTo>
                  <a:cubicBezTo>
                    <a:pt x="725311" y="0"/>
                    <a:pt x="737686" y="12375"/>
                    <a:pt x="737686" y="27641"/>
                  </a:cubicBezTo>
                  <a:lnTo>
                    <a:pt x="737686" y="130804"/>
                  </a:lnTo>
                  <a:cubicBezTo>
                    <a:pt x="737686" y="146069"/>
                    <a:pt x="725311" y="158445"/>
                    <a:pt x="710046" y="158445"/>
                  </a:cubicBezTo>
                  <a:lnTo>
                    <a:pt x="27641" y="158445"/>
                  </a:lnTo>
                  <a:cubicBezTo>
                    <a:pt x="12375" y="158445"/>
                    <a:pt x="0" y="146069"/>
                    <a:pt x="0" y="130804"/>
                  </a:cubicBezTo>
                  <a:lnTo>
                    <a:pt x="0" y="27641"/>
                  </a:lnTo>
                  <a:cubicBezTo>
                    <a:pt x="0" y="12375"/>
                    <a:pt x="12375" y="0"/>
                    <a:pt x="27641" y="0"/>
                  </a:cubicBezTo>
                  <a:close/>
                </a:path>
              </a:pathLst>
            </a:custGeom>
            <a:solidFill>
              <a:srgbClr val="384237"/>
            </a:solidFill>
            <a:ln w="19050" cap="sq">
              <a:solidFill>
                <a:srgbClr val="71FF88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19050"/>
              <a:ext cx="737686" cy="1393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b="true" sz="1800">
                  <a:solidFill>
                    <a:srgbClr val="71FF88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RenderTaskManager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4632952" y="2880896"/>
            <a:ext cx="2800903" cy="601594"/>
            <a:chOff x="0" y="0"/>
            <a:chExt cx="737686" cy="15844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37686" cy="158445"/>
            </a:xfrm>
            <a:custGeom>
              <a:avLst/>
              <a:gdLst/>
              <a:ahLst/>
              <a:cxnLst/>
              <a:rect r="r" b="b" t="t" l="l"/>
              <a:pathLst>
                <a:path h="158445" w="737686">
                  <a:moveTo>
                    <a:pt x="27641" y="0"/>
                  </a:moveTo>
                  <a:lnTo>
                    <a:pt x="710046" y="0"/>
                  </a:lnTo>
                  <a:cubicBezTo>
                    <a:pt x="725311" y="0"/>
                    <a:pt x="737686" y="12375"/>
                    <a:pt x="737686" y="27641"/>
                  </a:cubicBezTo>
                  <a:lnTo>
                    <a:pt x="737686" y="130804"/>
                  </a:lnTo>
                  <a:cubicBezTo>
                    <a:pt x="737686" y="146069"/>
                    <a:pt x="725311" y="158445"/>
                    <a:pt x="710046" y="158445"/>
                  </a:cubicBezTo>
                  <a:lnTo>
                    <a:pt x="27641" y="158445"/>
                  </a:lnTo>
                  <a:cubicBezTo>
                    <a:pt x="12375" y="158445"/>
                    <a:pt x="0" y="146069"/>
                    <a:pt x="0" y="130804"/>
                  </a:cubicBezTo>
                  <a:lnTo>
                    <a:pt x="0" y="27641"/>
                  </a:lnTo>
                  <a:cubicBezTo>
                    <a:pt x="0" y="12375"/>
                    <a:pt x="12375" y="0"/>
                    <a:pt x="27641" y="0"/>
                  </a:cubicBezTo>
                  <a:close/>
                </a:path>
              </a:pathLst>
            </a:custGeom>
            <a:solidFill>
              <a:srgbClr val="373942"/>
            </a:solidFill>
            <a:ln w="19050" cap="sq">
              <a:solidFill>
                <a:srgbClr val="49BCFF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19050"/>
              <a:ext cx="737686" cy="1393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b="true" sz="1800">
                  <a:solidFill>
                    <a:srgbClr val="49BCF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RenderInit</a:t>
              </a:r>
              <a:r>
                <a:rPr lang="en-US" b="true" sz="1800">
                  <a:solidFill>
                    <a:srgbClr val="49BCF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Window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7633880" y="2880896"/>
            <a:ext cx="2800903" cy="601594"/>
            <a:chOff x="0" y="0"/>
            <a:chExt cx="737686" cy="15844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37686" cy="158445"/>
            </a:xfrm>
            <a:custGeom>
              <a:avLst/>
              <a:gdLst/>
              <a:ahLst/>
              <a:cxnLst/>
              <a:rect r="r" b="b" t="t" l="l"/>
              <a:pathLst>
                <a:path h="158445" w="737686">
                  <a:moveTo>
                    <a:pt x="27641" y="0"/>
                  </a:moveTo>
                  <a:lnTo>
                    <a:pt x="710046" y="0"/>
                  </a:lnTo>
                  <a:cubicBezTo>
                    <a:pt x="725311" y="0"/>
                    <a:pt x="737686" y="12375"/>
                    <a:pt x="737686" y="27641"/>
                  </a:cubicBezTo>
                  <a:lnTo>
                    <a:pt x="737686" y="130804"/>
                  </a:lnTo>
                  <a:cubicBezTo>
                    <a:pt x="737686" y="146069"/>
                    <a:pt x="725311" y="158445"/>
                    <a:pt x="710046" y="158445"/>
                  </a:cubicBezTo>
                  <a:lnTo>
                    <a:pt x="27641" y="158445"/>
                  </a:lnTo>
                  <a:cubicBezTo>
                    <a:pt x="12375" y="158445"/>
                    <a:pt x="0" y="146069"/>
                    <a:pt x="0" y="130804"/>
                  </a:cubicBezTo>
                  <a:lnTo>
                    <a:pt x="0" y="27641"/>
                  </a:lnTo>
                  <a:cubicBezTo>
                    <a:pt x="0" y="12375"/>
                    <a:pt x="12375" y="0"/>
                    <a:pt x="27641" y="0"/>
                  </a:cubicBezTo>
                  <a:close/>
                </a:path>
              </a:pathLst>
            </a:custGeom>
            <a:solidFill>
              <a:srgbClr val="373942"/>
            </a:solidFill>
            <a:ln w="19050" cap="sq">
              <a:solidFill>
                <a:srgbClr val="49BCFF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19050"/>
              <a:ext cx="737686" cy="1393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b="true" sz="1800">
                  <a:solidFill>
                    <a:srgbClr val="49BCF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RenderSearch</a:t>
              </a:r>
              <a:r>
                <a:rPr lang="en-US" b="true" sz="1800">
                  <a:solidFill>
                    <a:srgbClr val="49BCF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Window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202230" y="4329176"/>
            <a:ext cx="9662347" cy="2669821"/>
            <a:chOff x="0" y="0"/>
            <a:chExt cx="2544816" cy="703163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544816" cy="703163"/>
            </a:xfrm>
            <a:custGeom>
              <a:avLst/>
              <a:gdLst/>
              <a:ahLst/>
              <a:cxnLst/>
              <a:rect r="r" b="b" t="t" l="l"/>
              <a:pathLst>
                <a:path h="703163" w="2544816">
                  <a:moveTo>
                    <a:pt x="16025" y="0"/>
                  </a:moveTo>
                  <a:lnTo>
                    <a:pt x="2528791" y="0"/>
                  </a:lnTo>
                  <a:cubicBezTo>
                    <a:pt x="2537641" y="0"/>
                    <a:pt x="2544816" y="7175"/>
                    <a:pt x="2544816" y="16025"/>
                  </a:cubicBezTo>
                  <a:lnTo>
                    <a:pt x="2544816" y="687138"/>
                  </a:lnTo>
                  <a:cubicBezTo>
                    <a:pt x="2544816" y="695988"/>
                    <a:pt x="2537641" y="703163"/>
                    <a:pt x="2528791" y="703163"/>
                  </a:cubicBezTo>
                  <a:lnTo>
                    <a:pt x="16025" y="703163"/>
                  </a:lnTo>
                  <a:cubicBezTo>
                    <a:pt x="7175" y="703163"/>
                    <a:pt x="0" y="695988"/>
                    <a:pt x="0" y="687138"/>
                  </a:cubicBezTo>
                  <a:lnTo>
                    <a:pt x="0" y="16025"/>
                  </a:lnTo>
                  <a:cubicBezTo>
                    <a:pt x="0" y="7175"/>
                    <a:pt x="7175" y="0"/>
                    <a:pt x="16025" y="0"/>
                  </a:cubicBezTo>
                  <a:close/>
                </a:path>
              </a:pathLst>
            </a:custGeom>
            <a:solidFill>
              <a:srgbClr val="1E1E1E"/>
            </a:solidFill>
            <a:ln w="19050" cap="sq">
              <a:solidFill>
                <a:srgbClr val="444444"/>
              </a:solidFill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28575"/>
              <a:ext cx="2544816" cy="6745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2102700" y="4673702"/>
            <a:ext cx="7861408" cy="291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b="true" sz="2100">
                <a:solidFill>
                  <a:srgbClr val="FFFFFF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O</a:t>
            </a:r>
            <a:r>
              <a:rPr lang="en-US" b="true" sz="2100">
                <a:solidFill>
                  <a:srgbClr val="FFFFFF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S CORE &amp; STATE LAYER (main.cpp)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632025" y="5222342"/>
            <a:ext cx="2800903" cy="601594"/>
            <a:chOff x="0" y="0"/>
            <a:chExt cx="737686" cy="15844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37686" cy="158445"/>
            </a:xfrm>
            <a:custGeom>
              <a:avLst/>
              <a:gdLst/>
              <a:ahLst/>
              <a:cxnLst/>
              <a:rect r="r" b="b" t="t" l="l"/>
              <a:pathLst>
                <a:path h="158445" w="737686">
                  <a:moveTo>
                    <a:pt x="27641" y="0"/>
                  </a:moveTo>
                  <a:lnTo>
                    <a:pt x="710046" y="0"/>
                  </a:lnTo>
                  <a:cubicBezTo>
                    <a:pt x="725311" y="0"/>
                    <a:pt x="737686" y="12375"/>
                    <a:pt x="737686" y="27641"/>
                  </a:cubicBezTo>
                  <a:lnTo>
                    <a:pt x="737686" y="130804"/>
                  </a:lnTo>
                  <a:cubicBezTo>
                    <a:pt x="737686" y="146069"/>
                    <a:pt x="725311" y="158445"/>
                    <a:pt x="710046" y="158445"/>
                  </a:cubicBezTo>
                  <a:lnTo>
                    <a:pt x="27641" y="158445"/>
                  </a:lnTo>
                  <a:cubicBezTo>
                    <a:pt x="12375" y="158445"/>
                    <a:pt x="0" y="146069"/>
                    <a:pt x="0" y="130804"/>
                  </a:cubicBezTo>
                  <a:lnTo>
                    <a:pt x="0" y="27641"/>
                  </a:lnTo>
                  <a:cubicBezTo>
                    <a:pt x="0" y="12375"/>
                    <a:pt x="12375" y="0"/>
                    <a:pt x="27641" y="0"/>
                  </a:cubicBezTo>
                  <a:close/>
                </a:path>
              </a:pathLst>
            </a:custGeom>
            <a:solidFill>
              <a:srgbClr val="384237"/>
            </a:solidFill>
            <a:ln w="19050" cap="sq">
              <a:solidFill>
                <a:srgbClr val="71FF88"/>
              </a:solidFill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19050"/>
              <a:ext cx="737686" cy="1393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b="true" sz="1800">
                  <a:solidFill>
                    <a:srgbClr val="71FF88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State Management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632025" y="6081452"/>
            <a:ext cx="8802758" cy="601594"/>
            <a:chOff x="0" y="0"/>
            <a:chExt cx="2318422" cy="158445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318422" cy="158445"/>
            </a:xfrm>
            <a:custGeom>
              <a:avLst/>
              <a:gdLst/>
              <a:ahLst/>
              <a:cxnLst/>
              <a:rect r="r" b="b" t="t" l="l"/>
              <a:pathLst>
                <a:path h="158445" w="2318422">
                  <a:moveTo>
                    <a:pt x="8795" y="0"/>
                  </a:moveTo>
                  <a:lnTo>
                    <a:pt x="2309627" y="0"/>
                  </a:lnTo>
                  <a:cubicBezTo>
                    <a:pt x="2311959" y="0"/>
                    <a:pt x="2314197" y="927"/>
                    <a:pt x="2315846" y="2576"/>
                  </a:cubicBezTo>
                  <a:cubicBezTo>
                    <a:pt x="2317495" y="4225"/>
                    <a:pt x="2318422" y="6462"/>
                    <a:pt x="2318422" y="8795"/>
                  </a:cubicBezTo>
                  <a:lnTo>
                    <a:pt x="2318422" y="149650"/>
                  </a:lnTo>
                  <a:cubicBezTo>
                    <a:pt x="2318422" y="151982"/>
                    <a:pt x="2317495" y="154219"/>
                    <a:pt x="2315846" y="155869"/>
                  </a:cubicBezTo>
                  <a:cubicBezTo>
                    <a:pt x="2314197" y="157518"/>
                    <a:pt x="2311959" y="158445"/>
                    <a:pt x="2309627" y="158445"/>
                  </a:cubicBezTo>
                  <a:lnTo>
                    <a:pt x="8795" y="158445"/>
                  </a:lnTo>
                  <a:cubicBezTo>
                    <a:pt x="6462" y="158445"/>
                    <a:pt x="4225" y="157518"/>
                    <a:pt x="2576" y="155869"/>
                  </a:cubicBezTo>
                  <a:cubicBezTo>
                    <a:pt x="927" y="154219"/>
                    <a:pt x="0" y="151982"/>
                    <a:pt x="0" y="149650"/>
                  </a:cubicBezTo>
                  <a:lnTo>
                    <a:pt x="0" y="8795"/>
                  </a:lnTo>
                  <a:cubicBezTo>
                    <a:pt x="0" y="6462"/>
                    <a:pt x="927" y="4225"/>
                    <a:pt x="2576" y="2576"/>
                  </a:cubicBezTo>
                  <a:cubicBezTo>
                    <a:pt x="4225" y="927"/>
                    <a:pt x="6462" y="0"/>
                    <a:pt x="8795" y="0"/>
                  </a:cubicBezTo>
                  <a:close/>
                </a:path>
              </a:pathLst>
            </a:custGeom>
            <a:solidFill>
              <a:srgbClr val="373942"/>
            </a:solidFill>
            <a:ln w="19050" cap="sq">
              <a:solidFill>
                <a:srgbClr val="49BCFF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19050"/>
              <a:ext cx="2318422" cy="1393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b="true" sz="1800">
                  <a:solidFill>
                    <a:srgbClr val="49BCF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Shutdown Contro</a:t>
              </a:r>
              <a:r>
                <a:rPr lang="en-US" b="true" sz="1800">
                  <a:solidFill>
                    <a:srgbClr val="49BCF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l Mechanism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4632952" y="5222342"/>
            <a:ext cx="2800903" cy="601594"/>
            <a:chOff x="0" y="0"/>
            <a:chExt cx="737686" cy="158445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37686" cy="158445"/>
            </a:xfrm>
            <a:custGeom>
              <a:avLst/>
              <a:gdLst/>
              <a:ahLst/>
              <a:cxnLst/>
              <a:rect r="r" b="b" t="t" l="l"/>
              <a:pathLst>
                <a:path h="158445" w="737686">
                  <a:moveTo>
                    <a:pt x="27641" y="0"/>
                  </a:moveTo>
                  <a:lnTo>
                    <a:pt x="710046" y="0"/>
                  </a:lnTo>
                  <a:cubicBezTo>
                    <a:pt x="725311" y="0"/>
                    <a:pt x="737686" y="12375"/>
                    <a:pt x="737686" y="27641"/>
                  </a:cubicBezTo>
                  <a:lnTo>
                    <a:pt x="737686" y="130804"/>
                  </a:lnTo>
                  <a:cubicBezTo>
                    <a:pt x="737686" y="146069"/>
                    <a:pt x="725311" y="158445"/>
                    <a:pt x="710046" y="158445"/>
                  </a:cubicBezTo>
                  <a:lnTo>
                    <a:pt x="27641" y="158445"/>
                  </a:lnTo>
                  <a:cubicBezTo>
                    <a:pt x="12375" y="158445"/>
                    <a:pt x="0" y="146069"/>
                    <a:pt x="0" y="130804"/>
                  </a:cubicBezTo>
                  <a:lnTo>
                    <a:pt x="0" y="27641"/>
                  </a:lnTo>
                  <a:cubicBezTo>
                    <a:pt x="0" y="12375"/>
                    <a:pt x="12375" y="0"/>
                    <a:pt x="27641" y="0"/>
                  </a:cubicBezTo>
                  <a:close/>
                </a:path>
              </a:pathLst>
            </a:custGeom>
            <a:solidFill>
              <a:srgbClr val="384237"/>
            </a:solidFill>
            <a:ln w="19050" cap="sq">
              <a:solidFill>
                <a:srgbClr val="71FF88"/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19050"/>
              <a:ext cx="737686" cy="1393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b="true" sz="1800">
                  <a:solidFill>
                    <a:srgbClr val="71FF88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Texture Manager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7633880" y="5222342"/>
            <a:ext cx="2800903" cy="601594"/>
            <a:chOff x="0" y="0"/>
            <a:chExt cx="737686" cy="158445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737686" cy="158445"/>
            </a:xfrm>
            <a:custGeom>
              <a:avLst/>
              <a:gdLst/>
              <a:ahLst/>
              <a:cxnLst/>
              <a:rect r="r" b="b" t="t" l="l"/>
              <a:pathLst>
                <a:path h="158445" w="737686">
                  <a:moveTo>
                    <a:pt x="27641" y="0"/>
                  </a:moveTo>
                  <a:lnTo>
                    <a:pt x="710046" y="0"/>
                  </a:lnTo>
                  <a:cubicBezTo>
                    <a:pt x="725311" y="0"/>
                    <a:pt x="737686" y="12375"/>
                    <a:pt x="737686" y="27641"/>
                  </a:cubicBezTo>
                  <a:lnTo>
                    <a:pt x="737686" y="130804"/>
                  </a:lnTo>
                  <a:cubicBezTo>
                    <a:pt x="737686" y="146069"/>
                    <a:pt x="725311" y="158445"/>
                    <a:pt x="710046" y="158445"/>
                  </a:cubicBezTo>
                  <a:lnTo>
                    <a:pt x="27641" y="158445"/>
                  </a:lnTo>
                  <a:cubicBezTo>
                    <a:pt x="12375" y="158445"/>
                    <a:pt x="0" y="146069"/>
                    <a:pt x="0" y="130804"/>
                  </a:cubicBezTo>
                  <a:lnTo>
                    <a:pt x="0" y="27641"/>
                  </a:lnTo>
                  <a:cubicBezTo>
                    <a:pt x="0" y="12375"/>
                    <a:pt x="12375" y="0"/>
                    <a:pt x="27641" y="0"/>
                  </a:cubicBezTo>
                  <a:close/>
                </a:path>
              </a:pathLst>
            </a:custGeom>
            <a:solidFill>
              <a:srgbClr val="384237"/>
            </a:solidFill>
            <a:ln w="19050" cap="sq">
              <a:solidFill>
                <a:srgbClr val="71FF88"/>
              </a:solidFill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19050"/>
              <a:ext cx="737686" cy="1393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b="true" sz="1800">
                  <a:solidFill>
                    <a:srgbClr val="71FF88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Time Subsystem</a:t>
              </a:r>
            </a:p>
          </p:txBody>
        </p:sp>
      </p:grpSp>
      <p:sp>
        <p:nvSpPr>
          <p:cNvPr name="AutoShape 41" id="41"/>
          <p:cNvSpPr/>
          <p:nvPr/>
        </p:nvSpPr>
        <p:spPr>
          <a:xfrm>
            <a:off x="6033404" y="3893691"/>
            <a:ext cx="0" cy="337287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42" id="42"/>
          <p:cNvGrpSpPr/>
          <p:nvPr/>
        </p:nvGrpSpPr>
        <p:grpSpPr>
          <a:xfrm rot="0">
            <a:off x="1202230" y="7507734"/>
            <a:ext cx="9662347" cy="1653594"/>
            <a:chOff x="0" y="0"/>
            <a:chExt cx="2544816" cy="435515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544816" cy="435515"/>
            </a:xfrm>
            <a:custGeom>
              <a:avLst/>
              <a:gdLst/>
              <a:ahLst/>
              <a:cxnLst/>
              <a:rect r="r" b="b" t="t" l="l"/>
              <a:pathLst>
                <a:path h="435515" w="2544816">
                  <a:moveTo>
                    <a:pt x="16025" y="0"/>
                  </a:moveTo>
                  <a:lnTo>
                    <a:pt x="2528791" y="0"/>
                  </a:lnTo>
                  <a:cubicBezTo>
                    <a:pt x="2537641" y="0"/>
                    <a:pt x="2544816" y="7175"/>
                    <a:pt x="2544816" y="16025"/>
                  </a:cubicBezTo>
                  <a:lnTo>
                    <a:pt x="2544816" y="419490"/>
                  </a:lnTo>
                  <a:cubicBezTo>
                    <a:pt x="2544816" y="428340"/>
                    <a:pt x="2537641" y="435515"/>
                    <a:pt x="2528791" y="435515"/>
                  </a:cubicBezTo>
                  <a:lnTo>
                    <a:pt x="16025" y="435515"/>
                  </a:lnTo>
                  <a:cubicBezTo>
                    <a:pt x="7175" y="435515"/>
                    <a:pt x="0" y="428340"/>
                    <a:pt x="0" y="419490"/>
                  </a:cubicBezTo>
                  <a:lnTo>
                    <a:pt x="0" y="16025"/>
                  </a:lnTo>
                  <a:cubicBezTo>
                    <a:pt x="0" y="7175"/>
                    <a:pt x="7175" y="0"/>
                    <a:pt x="16025" y="0"/>
                  </a:cubicBezTo>
                  <a:close/>
                </a:path>
              </a:pathLst>
            </a:custGeom>
            <a:solidFill>
              <a:srgbClr val="1E1E1E"/>
            </a:solidFill>
            <a:ln w="19050" cap="sq">
              <a:solidFill>
                <a:srgbClr val="444444"/>
              </a:solidFill>
              <a:prstDash val="solid"/>
              <a:miter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0" y="28575"/>
              <a:ext cx="2544816" cy="4069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1355556" y="7799060"/>
            <a:ext cx="9355696" cy="291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b="true" sz="2100">
                <a:solidFill>
                  <a:srgbClr val="FFFFFF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GRAPHIC</a:t>
            </a:r>
            <a:r>
              <a:rPr lang="en-US" b="true" sz="2100">
                <a:solidFill>
                  <a:srgbClr val="FFFFFF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S &amp; WINDOWING BACKEND LAYER (GLFW3 + OpenGL 3.0)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1632025" y="8185775"/>
            <a:ext cx="4281679" cy="712803"/>
            <a:chOff x="0" y="0"/>
            <a:chExt cx="1127685" cy="187734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127685" cy="187734"/>
            </a:xfrm>
            <a:custGeom>
              <a:avLst/>
              <a:gdLst/>
              <a:ahLst/>
              <a:cxnLst/>
              <a:rect r="r" b="b" t="t" l="l"/>
              <a:pathLst>
                <a:path h="187734" w="1127685">
                  <a:moveTo>
                    <a:pt x="18082" y="0"/>
                  </a:moveTo>
                  <a:lnTo>
                    <a:pt x="1109603" y="0"/>
                  </a:lnTo>
                  <a:cubicBezTo>
                    <a:pt x="1119590" y="0"/>
                    <a:pt x="1127685" y="8095"/>
                    <a:pt x="1127685" y="18082"/>
                  </a:cubicBezTo>
                  <a:lnTo>
                    <a:pt x="1127685" y="169653"/>
                  </a:lnTo>
                  <a:cubicBezTo>
                    <a:pt x="1127685" y="179639"/>
                    <a:pt x="1119590" y="187734"/>
                    <a:pt x="1109603" y="187734"/>
                  </a:cubicBezTo>
                  <a:lnTo>
                    <a:pt x="18082" y="187734"/>
                  </a:lnTo>
                  <a:cubicBezTo>
                    <a:pt x="8095" y="187734"/>
                    <a:pt x="0" y="179639"/>
                    <a:pt x="0" y="169653"/>
                  </a:cubicBezTo>
                  <a:lnTo>
                    <a:pt x="0" y="18082"/>
                  </a:lnTo>
                  <a:cubicBezTo>
                    <a:pt x="0" y="8095"/>
                    <a:pt x="8095" y="0"/>
                    <a:pt x="18082" y="0"/>
                  </a:cubicBezTo>
                  <a:close/>
                </a:path>
              </a:pathLst>
            </a:custGeom>
            <a:solidFill>
              <a:srgbClr val="384237"/>
            </a:solidFill>
            <a:ln w="19050" cap="sq">
              <a:solidFill>
                <a:srgbClr val="71FF88"/>
              </a:solidFill>
              <a:prstDash val="solid"/>
              <a:miter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19050"/>
              <a:ext cx="1127685" cy="1686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b="true" sz="1800">
                  <a:solidFill>
                    <a:srgbClr val="71FF88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GLFW3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6153103" y="8185775"/>
            <a:ext cx="4281679" cy="712803"/>
            <a:chOff x="0" y="0"/>
            <a:chExt cx="1127685" cy="187734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127685" cy="187734"/>
            </a:xfrm>
            <a:custGeom>
              <a:avLst/>
              <a:gdLst/>
              <a:ahLst/>
              <a:cxnLst/>
              <a:rect r="r" b="b" t="t" l="l"/>
              <a:pathLst>
                <a:path h="187734" w="1127685">
                  <a:moveTo>
                    <a:pt x="18082" y="0"/>
                  </a:moveTo>
                  <a:lnTo>
                    <a:pt x="1109603" y="0"/>
                  </a:lnTo>
                  <a:cubicBezTo>
                    <a:pt x="1119590" y="0"/>
                    <a:pt x="1127685" y="8095"/>
                    <a:pt x="1127685" y="18082"/>
                  </a:cubicBezTo>
                  <a:lnTo>
                    <a:pt x="1127685" y="169653"/>
                  </a:lnTo>
                  <a:cubicBezTo>
                    <a:pt x="1127685" y="179639"/>
                    <a:pt x="1119590" y="187734"/>
                    <a:pt x="1109603" y="187734"/>
                  </a:cubicBezTo>
                  <a:lnTo>
                    <a:pt x="18082" y="187734"/>
                  </a:lnTo>
                  <a:cubicBezTo>
                    <a:pt x="8095" y="187734"/>
                    <a:pt x="0" y="179639"/>
                    <a:pt x="0" y="169653"/>
                  </a:cubicBezTo>
                  <a:lnTo>
                    <a:pt x="0" y="18082"/>
                  </a:lnTo>
                  <a:cubicBezTo>
                    <a:pt x="0" y="8095"/>
                    <a:pt x="8095" y="0"/>
                    <a:pt x="18082" y="0"/>
                  </a:cubicBezTo>
                  <a:close/>
                </a:path>
              </a:pathLst>
            </a:custGeom>
            <a:solidFill>
              <a:srgbClr val="373942"/>
            </a:solidFill>
            <a:ln w="19050" cap="sq">
              <a:solidFill>
                <a:srgbClr val="49BCFF"/>
              </a:solidFill>
              <a:prstDash val="solid"/>
              <a:miter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19050"/>
              <a:ext cx="1127685" cy="1686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b="true" sz="1800">
                  <a:solidFill>
                    <a:srgbClr val="49BCF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Op</a:t>
              </a:r>
              <a:r>
                <a:rPr lang="en-US" b="true" sz="1800">
                  <a:solidFill>
                    <a:srgbClr val="49BCF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enGL 3.0</a:t>
              </a:r>
            </a:p>
          </p:txBody>
        </p:sp>
      </p:grpSp>
      <p:sp>
        <p:nvSpPr>
          <p:cNvPr name="AutoShape 52" id="52"/>
          <p:cNvSpPr/>
          <p:nvPr/>
        </p:nvSpPr>
        <p:spPr>
          <a:xfrm>
            <a:off x="6033404" y="7094247"/>
            <a:ext cx="0" cy="337287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53" id="53"/>
          <p:cNvGrpSpPr/>
          <p:nvPr/>
        </p:nvGrpSpPr>
        <p:grpSpPr>
          <a:xfrm rot="0">
            <a:off x="11139665" y="606559"/>
            <a:ext cx="5969591" cy="2669821"/>
            <a:chOff x="0" y="0"/>
            <a:chExt cx="1572238" cy="703163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572238" cy="703163"/>
            </a:xfrm>
            <a:custGeom>
              <a:avLst/>
              <a:gdLst/>
              <a:ahLst/>
              <a:cxnLst/>
              <a:rect r="r" b="b" t="t" l="l"/>
              <a:pathLst>
                <a:path h="703163" w="1572238">
                  <a:moveTo>
                    <a:pt x="25938" y="0"/>
                  </a:moveTo>
                  <a:lnTo>
                    <a:pt x="1546300" y="0"/>
                  </a:lnTo>
                  <a:cubicBezTo>
                    <a:pt x="1553179" y="0"/>
                    <a:pt x="1559777" y="2733"/>
                    <a:pt x="1564641" y="7597"/>
                  </a:cubicBezTo>
                  <a:cubicBezTo>
                    <a:pt x="1569505" y="12461"/>
                    <a:pt x="1572238" y="19059"/>
                    <a:pt x="1572238" y="25938"/>
                  </a:cubicBezTo>
                  <a:lnTo>
                    <a:pt x="1572238" y="677225"/>
                  </a:lnTo>
                  <a:cubicBezTo>
                    <a:pt x="1572238" y="691550"/>
                    <a:pt x="1560625" y="703163"/>
                    <a:pt x="1546300" y="703163"/>
                  </a:cubicBezTo>
                  <a:lnTo>
                    <a:pt x="25938" y="703163"/>
                  </a:lnTo>
                  <a:cubicBezTo>
                    <a:pt x="19059" y="703163"/>
                    <a:pt x="12461" y="700430"/>
                    <a:pt x="7597" y="695566"/>
                  </a:cubicBezTo>
                  <a:cubicBezTo>
                    <a:pt x="2733" y="690701"/>
                    <a:pt x="0" y="684104"/>
                    <a:pt x="0" y="677225"/>
                  </a:cubicBezTo>
                  <a:lnTo>
                    <a:pt x="0" y="25938"/>
                  </a:lnTo>
                  <a:cubicBezTo>
                    <a:pt x="0" y="11613"/>
                    <a:pt x="11613" y="0"/>
                    <a:pt x="25938" y="0"/>
                  </a:cubicBezTo>
                  <a:close/>
                </a:path>
              </a:pathLst>
            </a:custGeom>
            <a:solidFill>
              <a:srgbClr val="1E1E1E"/>
            </a:solidFill>
            <a:ln w="19050" cap="sq">
              <a:solidFill>
                <a:srgbClr val="444444"/>
              </a:solidFill>
              <a:prstDash val="solid"/>
              <a:miter/>
            </a:ln>
          </p:spPr>
        </p:sp>
        <p:sp>
          <p:nvSpPr>
            <p:cNvPr name="TextBox 55" id="55"/>
            <p:cNvSpPr txBox="true"/>
            <p:nvPr/>
          </p:nvSpPr>
          <p:spPr>
            <a:xfrm>
              <a:off x="0" y="28575"/>
              <a:ext cx="1572238" cy="6745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1139665" y="3810063"/>
            <a:ext cx="5969591" cy="2669821"/>
            <a:chOff x="0" y="0"/>
            <a:chExt cx="1572238" cy="703163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572238" cy="703163"/>
            </a:xfrm>
            <a:custGeom>
              <a:avLst/>
              <a:gdLst/>
              <a:ahLst/>
              <a:cxnLst/>
              <a:rect r="r" b="b" t="t" l="l"/>
              <a:pathLst>
                <a:path h="703163" w="1572238">
                  <a:moveTo>
                    <a:pt x="25938" y="0"/>
                  </a:moveTo>
                  <a:lnTo>
                    <a:pt x="1546300" y="0"/>
                  </a:lnTo>
                  <a:cubicBezTo>
                    <a:pt x="1553179" y="0"/>
                    <a:pt x="1559777" y="2733"/>
                    <a:pt x="1564641" y="7597"/>
                  </a:cubicBezTo>
                  <a:cubicBezTo>
                    <a:pt x="1569505" y="12461"/>
                    <a:pt x="1572238" y="19059"/>
                    <a:pt x="1572238" y="25938"/>
                  </a:cubicBezTo>
                  <a:lnTo>
                    <a:pt x="1572238" y="677225"/>
                  </a:lnTo>
                  <a:cubicBezTo>
                    <a:pt x="1572238" y="691550"/>
                    <a:pt x="1560625" y="703163"/>
                    <a:pt x="1546300" y="703163"/>
                  </a:cubicBezTo>
                  <a:lnTo>
                    <a:pt x="25938" y="703163"/>
                  </a:lnTo>
                  <a:cubicBezTo>
                    <a:pt x="19059" y="703163"/>
                    <a:pt x="12461" y="700430"/>
                    <a:pt x="7597" y="695566"/>
                  </a:cubicBezTo>
                  <a:cubicBezTo>
                    <a:pt x="2733" y="690701"/>
                    <a:pt x="0" y="684104"/>
                    <a:pt x="0" y="677225"/>
                  </a:cubicBezTo>
                  <a:lnTo>
                    <a:pt x="0" y="25938"/>
                  </a:lnTo>
                  <a:cubicBezTo>
                    <a:pt x="0" y="11613"/>
                    <a:pt x="11613" y="0"/>
                    <a:pt x="25938" y="0"/>
                  </a:cubicBezTo>
                  <a:close/>
                </a:path>
              </a:pathLst>
            </a:custGeom>
            <a:solidFill>
              <a:srgbClr val="1E1E1E"/>
            </a:solidFill>
            <a:ln w="19050" cap="sq">
              <a:solidFill>
                <a:srgbClr val="444444"/>
              </a:solidFill>
              <a:prstDash val="solid"/>
              <a:miter/>
            </a:ln>
          </p:spPr>
        </p:sp>
        <p:sp>
          <p:nvSpPr>
            <p:cNvPr name="TextBox 58" id="58"/>
            <p:cNvSpPr txBox="true"/>
            <p:nvPr/>
          </p:nvSpPr>
          <p:spPr>
            <a:xfrm>
              <a:off x="0" y="28575"/>
              <a:ext cx="1572238" cy="6745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11463047" y="912985"/>
            <a:ext cx="5336684" cy="1929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2100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// Renders the three main features to the screen (Desktop, Taskbar, and Task Manager).</a:t>
            </a:r>
          </a:p>
          <a:p>
            <a:pPr algn="l">
              <a:lnSpc>
                <a:spcPts val="2100"/>
              </a:lnSpc>
            </a:pPr>
          </a:p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b="true" sz="2100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// Renders the three required (plus three additional) interactive buttons in the Taskbar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1449190" y="4116489"/>
            <a:ext cx="5336684" cy="1663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2100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// Handles OS state flags, wallpaper image loading via stb_image, and real-time clock formatting</a:t>
            </a:r>
          </a:p>
          <a:p>
            <a:pPr algn="l">
              <a:lnSpc>
                <a:spcPts val="2100"/>
              </a:lnSpc>
            </a:pPr>
          </a:p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b="true" sz="2100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// Handles the authorized system shutdown via Power Button only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3008" y="501134"/>
            <a:ext cx="8248475" cy="3147803"/>
            <a:chOff x="0" y="0"/>
            <a:chExt cx="2110038" cy="80523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10038" cy="805238"/>
            </a:xfrm>
            <a:custGeom>
              <a:avLst/>
              <a:gdLst/>
              <a:ahLst/>
              <a:cxnLst/>
              <a:rect r="r" b="b" t="t" l="l"/>
              <a:pathLst>
                <a:path h="805238" w="2110038">
                  <a:moveTo>
                    <a:pt x="18772" y="0"/>
                  </a:moveTo>
                  <a:lnTo>
                    <a:pt x="2091266" y="0"/>
                  </a:lnTo>
                  <a:cubicBezTo>
                    <a:pt x="2096245" y="0"/>
                    <a:pt x="2101019" y="1978"/>
                    <a:pt x="2104540" y="5498"/>
                  </a:cubicBezTo>
                  <a:cubicBezTo>
                    <a:pt x="2108060" y="9019"/>
                    <a:pt x="2110038" y="13793"/>
                    <a:pt x="2110038" y="18772"/>
                  </a:cubicBezTo>
                  <a:lnTo>
                    <a:pt x="2110038" y="786466"/>
                  </a:lnTo>
                  <a:cubicBezTo>
                    <a:pt x="2110038" y="791444"/>
                    <a:pt x="2108060" y="796219"/>
                    <a:pt x="2104540" y="799740"/>
                  </a:cubicBezTo>
                  <a:cubicBezTo>
                    <a:pt x="2101019" y="803260"/>
                    <a:pt x="2096245" y="805238"/>
                    <a:pt x="2091266" y="805238"/>
                  </a:cubicBezTo>
                  <a:lnTo>
                    <a:pt x="18772" y="805238"/>
                  </a:lnTo>
                  <a:cubicBezTo>
                    <a:pt x="13793" y="805238"/>
                    <a:pt x="9019" y="803260"/>
                    <a:pt x="5498" y="799740"/>
                  </a:cubicBezTo>
                  <a:cubicBezTo>
                    <a:pt x="1978" y="796219"/>
                    <a:pt x="0" y="791444"/>
                    <a:pt x="0" y="786466"/>
                  </a:cubicBezTo>
                  <a:lnTo>
                    <a:pt x="0" y="18772"/>
                  </a:lnTo>
                  <a:cubicBezTo>
                    <a:pt x="0" y="13793"/>
                    <a:pt x="1978" y="9019"/>
                    <a:pt x="5498" y="5498"/>
                  </a:cubicBezTo>
                  <a:cubicBezTo>
                    <a:pt x="9019" y="1978"/>
                    <a:pt x="13793" y="0"/>
                    <a:pt x="18772" y="0"/>
                  </a:cubicBezTo>
                  <a:close/>
                </a:path>
              </a:pathLst>
            </a:custGeom>
            <a:solidFill>
              <a:srgbClr val="000000"/>
            </a:solidFill>
            <a:ln w="19050" cap="sq">
              <a:solidFill>
                <a:srgbClr val="444444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2110038" cy="7766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83008" y="501134"/>
            <a:ext cx="8248475" cy="838439"/>
            <a:chOff x="0" y="0"/>
            <a:chExt cx="10997967" cy="1117919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10997967" cy="1117919"/>
              <a:chOff x="0" y="0"/>
              <a:chExt cx="2110038" cy="21448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2110038" cy="214481"/>
              </a:xfrm>
              <a:custGeom>
                <a:avLst/>
                <a:gdLst/>
                <a:ahLst/>
                <a:cxnLst/>
                <a:rect r="r" b="b" t="t" l="l"/>
                <a:pathLst>
                  <a:path h="214481" w="2110038">
                    <a:moveTo>
                      <a:pt x="19327" y="0"/>
                    </a:moveTo>
                    <a:lnTo>
                      <a:pt x="2090711" y="0"/>
                    </a:lnTo>
                    <a:cubicBezTo>
                      <a:pt x="2095837" y="0"/>
                      <a:pt x="2100753" y="2036"/>
                      <a:pt x="2104377" y="5661"/>
                    </a:cubicBezTo>
                    <a:cubicBezTo>
                      <a:pt x="2108002" y="9285"/>
                      <a:pt x="2110038" y="14201"/>
                      <a:pt x="2110038" y="19327"/>
                    </a:cubicBezTo>
                    <a:lnTo>
                      <a:pt x="2110038" y="195154"/>
                    </a:lnTo>
                    <a:cubicBezTo>
                      <a:pt x="2110038" y="200280"/>
                      <a:pt x="2108002" y="205195"/>
                      <a:pt x="2104377" y="208820"/>
                    </a:cubicBezTo>
                    <a:cubicBezTo>
                      <a:pt x="2100753" y="212444"/>
                      <a:pt x="2095837" y="214481"/>
                      <a:pt x="2090711" y="214481"/>
                    </a:cubicBezTo>
                    <a:lnTo>
                      <a:pt x="19327" y="214481"/>
                    </a:lnTo>
                    <a:cubicBezTo>
                      <a:pt x="14201" y="214481"/>
                      <a:pt x="9285" y="212444"/>
                      <a:pt x="5661" y="208820"/>
                    </a:cubicBezTo>
                    <a:cubicBezTo>
                      <a:pt x="2036" y="205195"/>
                      <a:pt x="0" y="200280"/>
                      <a:pt x="0" y="195154"/>
                    </a:cubicBezTo>
                    <a:lnTo>
                      <a:pt x="0" y="19327"/>
                    </a:lnTo>
                    <a:cubicBezTo>
                      <a:pt x="0" y="14201"/>
                      <a:pt x="2036" y="9285"/>
                      <a:pt x="5661" y="5661"/>
                    </a:cubicBezTo>
                    <a:cubicBezTo>
                      <a:pt x="9285" y="2036"/>
                      <a:pt x="14201" y="0"/>
                      <a:pt x="19327" y="0"/>
                    </a:cubicBezTo>
                    <a:close/>
                  </a:path>
                </a:pathLst>
              </a:custGeom>
              <a:solidFill>
                <a:srgbClr val="1E1E1E"/>
              </a:solidFill>
              <a:ln w="1905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38100"/>
                <a:ext cx="2110038" cy="17638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99"/>
                  </a:lnSpc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1160372" y="436754"/>
              <a:ext cx="231126" cy="233409"/>
              <a:chOff x="0" y="0"/>
              <a:chExt cx="804851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04851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04851">
                    <a:moveTo>
                      <a:pt x="402425" y="0"/>
                    </a:moveTo>
                    <a:cubicBezTo>
                      <a:pt x="180172" y="0"/>
                      <a:pt x="0" y="181951"/>
                      <a:pt x="0" y="406400"/>
                    </a:cubicBezTo>
                    <a:cubicBezTo>
                      <a:pt x="0" y="630849"/>
                      <a:pt x="180172" y="812800"/>
                      <a:pt x="402425" y="812800"/>
                    </a:cubicBezTo>
                    <a:cubicBezTo>
                      <a:pt x="624679" y="812800"/>
                      <a:pt x="804851" y="630849"/>
                      <a:pt x="804851" y="406400"/>
                    </a:cubicBezTo>
                    <a:cubicBezTo>
                      <a:pt x="804851" y="181951"/>
                      <a:pt x="624679" y="0"/>
                      <a:pt x="402425" y="0"/>
                    </a:cubicBezTo>
                    <a:close/>
                  </a:path>
                </a:pathLst>
              </a:custGeom>
              <a:solidFill>
                <a:srgbClr val="71FF88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5455" y="114300"/>
                <a:ext cx="653941" cy="622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99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797440" y="436754"/>
              <a:ext cx="231126" cy="233409"/>
              <a:chOff x="0" y="0"/>
              <a:chExt cx="804851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04851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04851">
                    <a:moveTo>
                      <a:pt x="402425" y="0"/>
                    </a:moveTo>
                    <a:cubicBezTo>
                      <a:pt x="180172" y="0"/>
                      <a:pt x="0" y="181951"/>
                      <a:pt x="0" y="406400"/>
                    </a:cubicBezTo>
                    <a:cubicBezTo>
                      <a:pt x="0" y="630849"/>
                      <a:pt x="180172" y="812800"/>
                      <a:pt x="402425" y="812800"/>
                    </a:cubicBezTo>
                    <a:cubicBezTo>
                      <a:pt x="624679" y="812800"/>
                      <a:pt x="804851" y="630849"/>
                      <a:pt x="804851" y="406400"/>
                    </a:cubicBezTo>
                    <a:cubicBezTo>
                      <a:pt x="804851" y="181951"/>
                      <a:pt x="624679" y="0"/>
                      <a:pt x="402425" y="0"/>
                    </a:cubicBezTo>
                    <a:close/>
                  </a:path>
                </a:pathLst>
              </a:custGeom>
              <a:solidFill>
                <a:srgbClr val="FFDC71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5455" y="114300"/>
                <a:ext cx="653941" cy="622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9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436836" y="436754"/>
              <a:ext cx="231126" cy="233409"/>
              <a:chOff x="0" y="0"/>
              <a:chExt cx="804851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04851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04851">
                    <a:moveTo>
                      <a:pt x="402425" y="0"/>
                    </a:moveTo>
                    <a:cubicBezTo>
                      <a:pt x="180172" y="0"/>
                      <a:pt x="0" y="181951"/>
                      <a:pt x="0" y="406400"/>
                    </a:cubicBezTo>
                    <a:cubicBezTo>
                      <a:pt x="0" y="630849"/>
                      <a:pt x="180172" y="812800"/>
                      <a:pt x="402425" y="812800"/>
                    </a:cubicBezTo>
                    <a:cubicBezTo>
                      <a:pt x="624679" y="812800"/>
                      <a:pt x="804851" y="630849"/>
                      <a:pt x="804851" y="406400"/>
                    </a:cubicBezTo>
                    <a:cubicBezTo>
                      <a:pt x="804851" y="181951"/>
                      <a:pt x="624679" y="0"/>
                      <a:pt x="402425" y="0"/>
                    </a:cubicBezTo>
                    <a:close/>
                  </a:path>
                </a:pathLst>
              </a:custGeom>
              <a:solidFill>
                <a:srgbClr val="FF7171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5455" y="114300"/>
                <a:ext cx="653941" cy="622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99"/>
                  </a:lnSpc>
                </a:pPr>
              </a:p>
            </p:txBody>
          </p:sp>
        </p:grpSp>
      </p:grpSp>
      <p:grpSp>
        <p:nvGrpSpPr>
          <p:cNvPr name="Group 18" id="18"/>
          <p:cNvGrpSpPr/>
          <p:nvPr/>
        </p:nvGrpSpPr>
        <p:grpSpPr>
          <a:xfrm rot="0">
            <a:off x="9356517" y="501134"/>
            <a:ext cx="8248475" cy="4642366"/>
            <a:chOff x="0" y="0"/>
            <a:chExt cx="2110038" cy="118756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10038" cy="1187561"/>
            </a:xfrm>
            <a:custGeom>
              <a:avLst/>
              <a:gdLst/>
              <a:ahLst/>
              <a:cxnLst/>
              <a:rect r="r" b="b" t="t" l="l"/>
              <a:pathLst>
                <a:path h="1187561" w="2110038">
                  <a:moveTo>
                    <a:pt x="18772" y="0"/>
                  </a:moveTo>
                  <a:lnTo>
                    <a:pt x="2091266" y="0"/>
                  </a:lnTo>
                  <a:cubicBezTo>
                    <a:pt x="2096245" y="0"/>
                    <a:pt x="2101019" y="1978"/>
                    <a:pt x="2104540" y="5498"/>
                  </a:cubicBezTo>
                  <a:cubicBezTo>
                    <a:pt x="2108060" y="9019"/>
                    <a:pt x="2110038" y="13793"/>
                    <a:pt x="2110038" y="18772"/>
                  </a:cubicBezTo>
                  <a:lnTo>
                    <a:pt x="2110038" y="1168789"/>
                  </a:lnTo>
                  <a:cubicBezTo>
                    <a:pt x="2110038" y="1173768"/>
                    <a:pt x="2108060" y="1178543"/>
                    <a:pt x="2104540" y="1182063"/>
                  </a:cubicBezTo>
                  <a:cubicBezTo>
                    <a:pt x="2101019" y="1185583"/>
                    <a:pt x="2096245" y="1187561"/>
                    <a:pt x="2091266" y="1187561"/>
                  </a:cubicBezTo>
                  <a:lnTo>
                    <a:pt x="18772" y="1187561"/>
                  </a:lnTo>
                  <a:cubicBezTo>
                    <a:pt x="13793" y="1187561"/>
                    <a:pt x="9019" y="1185583"/>
                    <a:pt x="5498" y="1182063"/>
                  </a:cubicBezTo>
                  <a:cubicBezTo>
                    <a:pt x="1978" y="1178543"/>
                    <a:pt x="0" y="1173768"/>
                    <a:pt x="0" y="1168789"/>
                  </a:cubicBezTo>
                  <a:lnTo>
                    <a:pt x="0" y="18772"/>
                  </a:lnTo>
                  <a:cubicBezTo>
                    <a:pt x="0" y="13793"/>
                    <a:pt x="1978" y="9019"/>
                    <a:pt x="5498" y="5498"/>
                  </a:cubicBezTo>
                  <a:cubicBezTo>
                    <a:pt x="9019" y="1978"/>
                    <a:pt x="13793" y="0"/>
                    <a:pt x="18772" y="0"/>
                  </a:cubicBezTo>
                  <a:close/>
                </a:path>
              </a:pathLst>
            </a:custGeom>
            <a:solidFill>
              <a:srgbClr val="000000"/>
            </a:solidFill>
            <a:ln w="19050" cap="sq">
              <a:solidFill>
                <a:srgbClr val="444444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28575"/>
              <a:ext cx="2110038" cy="1158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356517" y="501134"/>
            <a:ext cx="8248475" cy="838439"/>
            <a:chOff x="0" y="0"/>
            <a:chExt cx="10997967" cy="1117919"/>
          </a:xfrm>
        </p:grpSpPr>
        <p:grpSp>
          <p:nvGrpSpPr>
            <p:cNvPr name="Group 22" id="22"/>
            <p:cNvGrpSpPr/>
            <p:nvPr/>
          </p:nvGrpSpPr>
          <p:grpSpPr>
            <a:xfrm rot="0">
              <a:off x="0" y="0"/>
              <a:ext cx="10997967" cy="1117919"/>
              <a:chOff x="0" y="0"/>
              <a:chExt cx="2110038" cy="214481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2110038" cy="214481"/>
              </a:xfrm>
              <a:custGeom>
                <a:avLst/>
                <a:gdLst/>
                <a:ahLst/>
                <a:cxnLst/>
                <a:rect r="r" b="b" t="t" l="l"/>
                <a:pathLst>
                  <a:path h="214481" w="2110038">
                    <a:moveTo>
                      <a:pt x="19327" y="0"/>
                    </a:moveTo>
                    <a:lnTo>
                      <a:pt x="2090711" y="0"/>
                    </a:lnTo>
                    <a:cubicBezTo>
                      <a:pt x="2095837" y="0"/>
                      <a:pt x="2100753" y="2036"/>
                      <a:pt x="2104377" y="5661"/>
                    </a:cubicBezTo>
                    <a:cubicBezTo>
                      <a:pt x="2108002" y="9285"/>
                      <a:pt x="2110038" y="14201"/>
                      <a:pt x="2110038" y="19327"/>
                    </a:cubicBezTo>
                    <a:lnTo>
                      <a:pt x="2110038" y="195154"/>
                    </a:lnTo>
                    <a:cubicBezTo>
                      <a:pt x="2110038" y="200280"/>
                      <a:pt x="2108002" y="205195"/>
                      <a:pt x="2104377" y="208820"/>
                    </a:cubicBezTo>
                    <a:cubicBezTo>
                      <a:pt x="2100753" y="212444"/>
                      <a:pt x="2095837" y="214481"/>
                      <a:pt x="2090711" y="214481"/>
                    </a:cubicBezTo>
                    <a:lnTo>
                      <a:pt x="19327" y="214481"/>
                    </a:lnTo>
                    <a:cubicBezTo>
                      <a:pt x="14201" y="214481"/>
                      <a:pt x="9285" y="212444"/>
                      <a:pt x="5661" y="208820"/>
                    </a:cubicBezTo>
                    <a:cubicBezTo>
                      <a:pt x="2036" y="205195"/>
                      <a:pt x="0" y="200280"/>
                      <a:pt x="0" y="195154"/>
                    </a:cubicBezTo>
                    <a:lnTo>
                      <a:pt x="0" y="19327"/>
                    </a:lnTo>
                    <a:cubicBezTo>
                      <a:pt x="0" y="14201"/>
                      <a:pt x="2036" y="9285"/>
                      <a:pt x="5661" y="5661"/>
                    </a:cubicBezTo>
                    <a:cubicBezTo>
                      <a:pt x="9285" y="2036"/>
                      <a:pt x="14201" y="0"/>
                      <a:pt x="19327" y="0"/>
                    </a:cubicBezTo>
                    <a:close/>
                  </a:path>
                </a:pathLst>
              </a:custGeom>
              <a:solidFill>
                <a:srgbClr val="1E1E1E"/>
              </a:solidFill>
              <a:ln w="1905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38100"/>
                <a:ext cx="2110038" cy="17638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9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1160372" y="436754"/>
              <a:ext cx="231126" cy="233409"/>
              <a:chOff x="0" y="0"/>
              <a:chExt cx="804851" cy="81280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804851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04851">
                    <a:moveTo>
                      <a:pt x="402425" y="0"/>
                    </a:moveTo>
                    <a:cubicBezTo>
                      <a:pt x="180172" y="0"/>
                      <a:pt x="0" y="181951"/>
                      <a:pt x="0" y="406400"/>
                    </a:cubicBezTo>
                    <a:cubicBezTo>
                      <a:pt x="0" y="630849"/>
                      <a:pt x="180172" y="812800"/>
                      <a:pt x="402425" y="812800"/>
                    </a:cubicBezTo>
                    <a:cubicBezTo>
                      <a:pt x="624679" y="812800"/>
                      <a:pt x="804851" y="630849"/>
                      <a:pt x="804851" y="406400"/>
                    </a:cubicBezTo>
                    <a:cubicBezTo>
                      <a:pt x="804851" y="181951"/>
                      <a:pt x="624679" y="0"/>
                      <a:pt x="402425" y="0"/>
                    </a:cubicBezTo>
                    <a:close/>
                  </a:path>
                </a:pathLst>
              </a:custGeom>
              <a:solidFill>
                <a:srgbClr val="71FF88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75455" y="114300"/>
                <a:ext cx="653941" cy="622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9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797440" y="436754"/>
              <a:ext cx="231126" cy="233409"/>
              <a:chOff x="0" y="0"/>
              <a:chExt cx="804851" cy="81280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804851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04851">
                    <a:moveTo>
                      <a:pt x="402425" y="0"/>
                    </a:moveTo>
                    <a:cubicBezTo>
                      <a:pt x="180172" y="0"/>
                      <a:pt x="0" y="181951"/>
                      <a:pt x="0" y="406400"/>
                    </a:cubicBezTo>
                    <a:cubicBezTo>
                      <a:pt x="0" y="630849"/>
                      <a:pt x="180172" y="812800"/>
                      <a:pt x="402425" y="812800"/>
                    </a:cubicBezTo>
                    <a:cubicBezTo>
                      <a:pt x="624679" y="812800"/>
                      <a:pt x="804851" y="630849"/>
                      <a:pt x="804851" y="406400"/>
                    </a:cubicBezTo>
                    <a:cubicBezTo>
                      <a:pt x="804851" y="181951"/>
                      <a:pt x="624679" y="0"/>
                      <a:pt x="402425" y="0"/>
                    </a:cubicBezTo>
                    <a:close/>
                  </a:path>
                </a:pathLst>
              </a:custGeom>
              <a:solidFill>
                <a:srgbClr val="FFDC71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75455" y="114300"/>
                <a:ext cx="653941" cy="622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9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436836" y="436754"/>
              <a:ext cx="231126" cy="233409"/>
              <a:chOff x="0" y="0"/>
              <a:chExt cx="804851" cy="8128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804851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04851">
                    <a:moveTo>
                      <a:pt x="402425" y="0"/>
                    </a:moveTo>
                    <a:cubicBezTo>
                      <a:pt x="180172" y="0"/>
                      <a:pt x="0" y="181951"/>
                      <a:pt x="0" y="406400"/>
                    </a:cubicBezTo>
                    <a:cubicBezTo>
                      <a:pt x="0" y="630849"/>
                      <a:pt x="180172" y="812800"/>
                      <a:pt x="402425" y="812800"/>
                    </a:cubicBezTo>
                    <a:cubicBezTo>
                      <a:pt x="624679" y="812800"/>
                      <a:pt x="804851" y="630849"/>
                      <a:pt x="804851" y="406400"/>
                    </a:cubicBezTo>
                    <a:cubicBezTo>
                      <a:pt x="804851" y="181951"/>
                      <a:pt x="624679" y="0"/>
                      <a:pt x="402425" y="0"/>
                    </a:cubicBezTo>
                    <a:close/>
                  </a:path>
                </a:pathLst>
              </a:custGeom>
              <a:solidFill>
                <a:srgbClr val="FF7171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75455" y="114300"/>
                <a:ext cx="653941" cy="622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99"/>
                  </a:lnSpc>
                </a:pPr>
              </a:p>
            </p:txBody>
          </p:sp>
        </p:grpSp>
      </p:grpSp>
      <p:grpSp>
        <p:nvGrpSpPr>
          <p:cNvPr name="Group 34" id="34"/>
          <p:cNvGrpSpPr/>
          <p:nvPr/>
        </p:nvGrpSpPr>
        <p:grpSpPr>
          <a:xfrm rot="0">
            <a:off x="683008" y="4076460"/>
            <a:ext cx="8248475" cy="4394228"/>
            <a:chOff x="0" y="0"/>
            <a:chExt cx="2110038" cy="1124085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110038" cy="1124085"/>
            </a:xfrm>
            <a:custGeom>
              <a:avLst/>
              <a:gdLst/>
              <a:ahLst/>
              <a:cxnLst/>
              <a:rect r="r" b="b" t="t" l="l"/>
              <a:pathLst>
                <a:path h="1124085" w="2110038">
                  <a:moveTo>
                    <a:pt x="18772" y="0"/>
                  </a:moveTo>
                  <a:lnTo>
                    <a:pt x="2091266" y="0"/>
                  </a:lnTo>
                  <a:cubicBezTo>
                    <a:pt x="2096245" y="0"/>
                    <a:pt x="2101019" y="1978"/>
                    <a:pt x="2104540" y="5498"/>
                  </a:cubicBezTo>
                  <a:cubicBezTo>
                    <a:pt x="2108060" y="9019"/>
                    <a:pt x="2110038" y="13793"/>
                    <a:pt x="2110038" y="18772"/>
                  </a:cubicBezTo>
                  <a:lnTo>
                    <a:pt x="2110038" y="1105313"/>
                  </a:lnTo>
                  <a:cubicBezTo>
                    <a:pt x="2110038" y="1110292"/>
                    <a:pt x="2108060" y="1115067"/>
                    <a:pt x="2104540" y="1118587"/>
                  </a:cubicBezTo>
                  <a:cubicBezTo>
                    <a:pt x="2101019" y="1122107"/>
                    <a:pt x="2096245" y="1124085"/>
                    <a:pt x="2091266" y="1124085"/>
                  </a:cubicBezTo>
                  <a:lnTo>
                    <a:pt x="18772" y="1124085"/>
                  </a:lnTo>
                  <a:cubicBezTo>
                    <a:pt x="13793" y="1124085"/>
                    <a:pt x="9019" y="1122107"/>
                    <a:pt x="5498" y="1118587"/>
                  </a:cubicBezTo>
                  <a:cubicBezTo>
                    <a:pt x="1978" y="1115067"/>
                    <a:pt x="0" y="1110292"/>
                    <a:pt x="0" y="1105313"/>
                  </a:cubicBezTo>
                  <a:lnTo>
                    <a:pt x="0" y="18772"/>
                  </a:lnTo>
                  <a:cubicBezTo>
                    <a:pt x="0" y="13793"/>
                    <a:pt x="1978" y="9019"/>
                    <a:pt x="5498" y="5498"/>
                  </a:cubicBezTo>
                  <a:cubicBezTo>
                    <a:pt x="9019" y="1978"/>
                    <a:pt x="13793" y="0"/>
                    <a:pt x="18772" y="0"/>
                  </a:cubicBezTo>
                  <a:close/>
                </a:path>
              </a:pathLst>
            </a:custGeom>
            <a:solidFill>
              <a:srgbClr val="000000"/>
            </a:solidFill>
            <a:ln w="19050" cap="sq">
              <a:solidFill>
                <a:srgbClr val="444444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28575"/>
              <a:ext cx="2110038" cy="10955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683008" y="4076460"/>
            <a:ext cx="8248475" cy="838439"/>
            <a:chOff x="0" y="0"/>
            <a:chExt cx="10997967" cy="1117919"/>
          </a:xfrm>
        </p:grpSpPr>
        <p:grpSp>
          <p:nvGrpSpPr>
            <p:cNvPr name="Group 38" id="38"/>
            <p:cNvGrpSpPr/>
            <p:nvPr/>
          </p:nvGrpSpPr>
          <p:grpSpPr>
            <a:xfrm rot="0">
              <a:off x="0" y="0"/>
              <a:ext cx="10997967" cy="1117919"/>
              <a:chOff x="0" y="0"/>
              <a:chExt cx="2110038" cy="214481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2110038" cy="214481"/>
              </a:xfrm>
              <a:custGeom>
                <a:avLst/>
                <a:gdLst/>
                <a:ahLst/>
                <a:cxnLst/>
                <a:rect r="r" b="b" t="t" l="l"/>
                <a:pathLst>
                  <a:path h="214481" w="2110038">
                    <a:moveTo>
                      <a:pt x="19327" y="0"/>
                    </a:moveTo>
                    <a:lnTo>
                      <a:pt x="2090711" y="0"/>
                    </a:lnTo>
                    <a:cubicBezTo>
                      <a:pt x="2095837" y="0"/>
                      <a:pt x="2100753" y="2036"/>
                      <a:pt x="2104377" y="5661"/>
                    </a:cubicBezTo>
                    <a:cubicBezTo>
                      <a:pt x="2108002" y="9285"/>
                      <a:pt x="2110038" y="14201"/>
                      <a:pt x="2110038" y="19327"/>
                    </a:cubicBezTo>
                    <a:lnTo>
                      <a:pt x="2110038" y="195154"/>
                    </a:lnTo>
                    <a:cubicBezTo>
                      <a:pt x="2110038" y="200280"/>
                      <a:pt x="2108002" y="205195"/>
                      <a:pt x="2104377" y="208820"/>
                    </a:cubicBezTo>
                    <a:cubicBezTo>
                      <a:pt x="2100753" y="212444"/>
                      <a:pt x="2095837" y="214481"/>
                      <a:pt x="2090711" y="214481"/>
                    </a:cubicBezTo>
                    <a:lnTo>
                      <a:pt x="19327" y="214481"/>
                    </a:lnTo>
                    <a:cubicBezTo>
                      <a:pt x="14201" y="214481"/>
                      <a:pt x="9285" y="212444"/>
                      <a:pt x="5661" y="208820"/>
                    </a:cubicBezTo>
                    <a:cubicBezTo>
                      <a:pt x="2036" y="205195"/>
                      <a:pt x="0" y="200280"/>
                      <a:pt x="0" y="195154"/>
                    </a:cubicBezTo>
                    <a:lnTo>
                      <a:pt x="0" y="19327"/>
                    </a:lnTo>
                    <a:cubicBezTo>
                      <a:pt x="0" y="14201"/>
                      <a:pt x="2036" y="9285"/>
                      <a:pt x="5661" y="5661"/>
                    </a:cubicBezTo>
                    <a:cubicBezTo>
                      <a:pt x="9285" y="2036"/>
                      <a:pt x="14201" y="0"/>
                      <a:pt x="19327" y="0"/>
                    </a:cubicBezTo>
                    <a:close/>
                  </a:path>
                </a:pathLst>
              </a:custGeom>
              <a:solidFill>
                <a:srgbClr val="1E1E1E"/>
              </a:solidFill>
              <a:ln w="1905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0" y="38100"/>
                <a:ext cx="2110038" cy="17638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99"/>
                  </a:lnSpc>
                </a:pPr>
              </a:p>
            </p:txBody>
          </p:sp>
        </p:grpSp>
        <p:grpSp>
          <p:nvGrpSpPr>
            <p:cNvPr name="Group 41" id="41"/>
            <p:cNvGrpSpPr/>
            <p:nvPr/>
          </p:nvGrpSpPr>
          <p:grpSpPr>
            <a:xfrm rot="0">
              <a:off x="1160372" y="436754"/>
              <a:ext cx="231126" cy="233409"/>
              <a:chOff x="0" y="0"/>
              <a:chExt cx="804851" cy="812800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804851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04851">
                    <a:moveTo>
                      <a:pt x="402425" y="0"/>
                    </a:moveTo>
                    <a:cubicBezTo>
                      <a:pt x="180172" y="0"/>
                      <a:pt x="0" y="181951"/>
                      <a:pt x="0" y="406400"/>
                    </a:cubicBezTo>
                    <a:cubicBezTo>
                      <a:pt x="0" y="630849"/>
                      <a:pt x="180172" y="812800"/>
                      <a:pt x="402425" y="812800"/>
                    </a:cubicBezTo>
                    <a:cubicBezTo>
                      <a:pt x="624679" y="812800"/>
                      <a:pt x="804851" y="630849"/>
                      <a:pt x="804851" y="406400"/>
                    </a:cubicBezTo>
                    <a:cubicBezTo>
                      <a:pt x="804851" y="181951"/>
                      <a:pt x="624679" y="0"/>
                      <a:pt x="402425" y="0"/>
                    </a:cubicBezTo>
                    <a:close/>
                  </a:path>
                </a:pathLst>
              </a:custGeom>
              <a:solidFill>
                <a:srgbClr val="71FF88"/>
              </a:solidFill>
            </p:spPr>
          </p:sp>
          <p:sp>
            <p:nvSpPr>
              <p:cNvPr name="TextBox 43" id="43"/>
              <p:cNvSpPr txBox="true"/>
              <p:nvPr/>
            </p:nvSpPr>
            <p:spPr>
              <a:xfrm>
                <a:off x="75455" y="114300"/>
                <a:ext cx="653941" cy="622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99"/>
                  </a:lnSpc>
                </a:pPr>
              </a:p>
            </p:txBody>
          </p:sp>
        </p:grpSp>
        <p:grpSp>
          <p:nvGrpSpPr>
            <p:cNvPr name="Group 44" id="44"/>
            <p:cNvGrpSpPr/>
            <p:nvPr/>
          </p:nvGrpSpPr>
          <p:grpSpPr>
            <a:xfrm rot="0">
              <a:off x="797440" y="436754"/>
              <a:ext cx="231126" cy="233409"/>
              <a:chOff x="0" y="0"/>
              <a:chExt cx="804851" cy="812800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804851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04851">
                    <a:moveTo>
                      <a:pt x="402425" y="0"/>
                    </a:moveTo>
                    <a:cubicBezTo>
                      <a:pt x="180172" y="0"/>
                      <a:pt x="0" y="181951"/>
                      <a:pt x="0" y="406400"/>
                    </a:cubicBezTo>
                    <a:cubicBezTo>
                      <a:pt x="0" y="630849"/>
                      <a:pt x="180172" y="812800"/>
                      <a:pt x="402425" y="812800"/>
                    </a:cubicBezTo>
                    <a:cubicBezTo>
                      <a:pt x="624679" y="812800"/>
                      <a:pt x="804851" y="630849"/>
                      <a:pt x="804851" y="406400"/>
                    </a:cubicBezTo>
                    <a:cubicBezTo>
                      <a:pt x="804851" y="181951"/>
                      <a:pt x="624679" y="0"/>
                      <a:pt x="402425" y="0"/>
                    </a:cubicBezTo>
                    <a:close/>
                  </a:path>
                </a:pathLst>
              </a:custGeom>
              <a:solidFill>
                <a:srgbClr val="FFDC71"/>
              </a:solidFill>
            </p:spPr>
          </p:sp>
          <p:sp>
            <p:nvSpPr>
              <p:cNvPr name="TextBox 46" id="46"/>
              <p:cNvSpPr txBox="true"/>
              <p:nvPr/>
            </p:nvSpPr>
            <p:spPr>
              <a:xfrm>
                <a:off x="75455" y="114300"/>
                <a:ext cx="653941" cy="622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99"/>
                  </a:lnSpc>
                </a:pPr>
              </a:p>
            </p:txBody>
          </p:sp>
        </p:grpSp>
        <p:grpSp>
          <p:nvGrpSpPr>
            <p:cNvPr name="Group 47" id="47"/>
            <p:cNvGrpSpPr/>
            <p:nvPr/>
          </p:nvGrpSpPr>
          <p:grpSpPr>
            <a:xfrm rot="0">
              <a:off x="436836" y="436754"/>
              <a:ext cx="231126" cy="233409"/>
              <a:chOff x="0" y="0"/>
              <a:chExt cx="804851" cy="812800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804851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04851">
                    <a:moveTo>
                      <a:pt x="402425" y="0"/>
                    </a:moveTo>
                    <a:cubicBezTo>
                      <a:pt x="180172" y="0"/>
                      <a:pt x="0" y="181951"/>
                      <a:pt x="0" y="406400"/>
                    </a:cubicBezTo>
                    <a:cubicBezTo>
                      <a:pt x="0" y="630849"/>
                      <a:pt x="180172" y="812800"/>
                      <a:pt x="402425" y="812800"/>
                    </a:cubicBezTo>
                    <a:cubicBezTo>
                      <a:pt x="624679" y="812800"/>
                      <a:pt x="804851" y="630849"/>
                      <a:pt x="804851" y="406400"/>
                    </a:cubicBezTo>
                    <a:cubicBezTo>
                      <a:pt x="804851" y="181951"/>
                      <a:pt x="624679" y="0"/>
                      <a:pt x="402425" y="0"/>
                    </a:cubicBezTo>
                    <a:close/>
                  </a:path>
                </a:pathLst>
              </a:custGeom>
              <a:solidFill>
                <a:srgbClr val="FF7171"/>
              </a:solidFill>
            </p:spPr>
          </p:sp>
          <p:sp>
            <p:nvSpPr>
              <p:cNvPr name="TextBox 49" id="49"/>
              <p:cNvSpPr txBox="true"/>
              <p:nvPr/>
            </p:nvSpPr>
            <p:spPr>
              <a:xfrm>
                <a:off x="75455" y="114300"/>
                <a:ext cx="653941" cy="622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99"/>
                  </a:lnSpc>
                </a:pPr>
              </a:p>
            </p:txBody>
          </p:sp>
        </p:grpSp>
      </p:grpSp>
      <p:sp>
        <p:nvSpPr>
          <p:cNvPr name="TextBox 50" id="50"/>
          <p:cNvSpPr txBox="true"/>
          <p:nvPr/>
        </p:nvSpPr>
        <p:spPr>
          <a:xfrm rot="0">
            <a:off x="683008" y="8985038"/>
            <a:ext cx="7545268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60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 Code Snippets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003862" y="5124450"/>
            <a:ext cx="7606768" cy="3095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struct ProcessRow { </a:t>
            </a: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const char* name; float</a:t>
            </a: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cpu; float memory; float disk; float network; };</a:t>
            </a:r>
          </a:p>
          <a:p>
            <a:pPr algn="l">
              <a:lnSpc>
                <a:spcPts val="1496"/>
              </a:lnSpc>
            </a:pP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if (ImGui::BeginTable("ProcessesTable", 5, tableFlags)) {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ImGui::TableSetupColumn("Process Name");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ImGui::TableSetupC</a:t>
            </a: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olumn(cpuHeader);  // e.g. "CPU (25%)"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ImGui::TableSetupColumn(memHeader);  // e.g. "Memory (82%)"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ImGui::TableHeadersRow();</a:t>
            </a:r>
          </a:p>
          <a:p>
            <a:pPr algn="l">
              <a:lnSpc>
                <a:spcPts val="1496"/>
              </a:lnSpc>
            </a:pP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for (int i = 0; i &lt; numProcessRows; i++)</a:t>
            </a: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{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    ImGui::TableNextRow();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    ImGui::Table</a:t>
            </a: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SetColumnIndex(0); ImGui::Text("%s", processes[i].name);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    ImGui::TableSetColumnIndex(1); ImGui::Text("%.1f%%", processes[i].cpu);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    ImGui::TableSetColumnIndex(2); ImGui::Text("%.1f MB", processes[i].memory);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}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ImGui::EndTable();</a:t>
            </a:r>
          </a:p>
          <a:p>
            <a:pPr algn="l">
              <a:lnSpc>
                <a:spcPts val="1496"/>
              </a:lnSpc>
            </a:pPr>
            <a:r>
              <a:rPr lang="en-US" b="true" sz="1247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}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2050360" y="788245"/>
            <a:ext cx="6240022" cy="276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76"/>
              </a:lnSpc>
            </a:pPr>
            <a:r>
              <a:rPr lang="en-US" sz="16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Shutdown Logic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003862" y="1579326"/>
            <a:ext cx="7606768" cy="1828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glfwSetWindowCloseCallback(window, [](GLFWwindow* win) {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if (!g_AllowShutdown) {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    glfwSetWindowShouldClose(win, GLFW_FALSE); 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}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});</a:t>
            </a:r>
          </a:p>
          <a:p>
            <a:pPr algn="l">
              <a:lnSpc>
                <a:spcPts val="1496"/>
              </a:lnSpc>
            </a:pP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if (FlatButton("PWR", ImVec4(1.0f, 0.3f, 0.3f, 1.0f))) {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g_AllowShutdown = true;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glfwSetWindowShouldClose(glfwGetCurrentContext(), GLFW_TRUE);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}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9677371" y="1579326"/>
            <a:ext cx="7606768" cy="3457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bool LoadTextureFromFile(const char* filename, GLuint* out_texture, int* out_w, int* out_h) {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unsigned char* data = stbi_load(filename, out_w, out_h, NULL, 4);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if (!data) return false;</a:t>
            </a:r>
          </a:p>
          <a:p>
            <a:pPr algn="l">
              <a:lnSpc>
                <a:spcPts val="1496"/>
              </a:lnSpc>
            </a:pP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glGenTextures(1, out_texture);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glBindTexture(GL_TEXTURE_2D, *out_texture);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glTexImage2D(GL_TEXTURE_2D, 0, GL_RGBA, *out_w, *out_h, 0, GL_RGBA, GL_UNSIGNED_BYTE, data);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stbi_image_free(data);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return true;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}</a:t>
            </a:r>
          </a:p>
          <a:p>
            <a:pPr algn="l">
              <a:lnSpc>
                <a:spcPts val="1496"/>
              </a:lnSpc>
            </a:pP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draw_list-&gt;AddImage(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(ImTextureID)(intptr_t)g_WallpaperTexture, 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pos, 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ImVec2(pos.x + customWidth, pos.y + customHeight)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);</a:t>
            </a:r>
          </a:p>
          <a:p>
            <a:pPr algn="l">
              <a:lnSpc>
                <a:spcPts val="1496"/>
              </a:lnSpc>
            </a:pPr>
          </a:p>
        </p:txBody>
      </p:sp>
      <p:sp>
        <p:nvSpPr>
          <p:cNvPr name="TextBox 55" id="55"/>
          <p:cNvSpPr txBox="true"/>
          <p:nvPr/>
        </p:nvSpPr>
        <p:spPr>
          <a:xfrm rot="0">
            <a:off x="10743889" y="788245"/>
            <a:ext cx="6240022" cy="276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76"/>
              </a:lnSpc>
            </a:pPr>
            <a:r>
              <a:rPr lang="en-US" sz="16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Loading of Image Texture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2050360" y="4352805"/>
            <a:ext cx="6240022" cy="276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76"/>
              </a:lnSpc>
            </a:pPr>
            <a:r>
              <a:rPr lang="en-US" sz="16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Task Manager Table Rendering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9356517" y="5400675"/>
            <a:ext cx="8248475" cy="4642366"/>
            <a:chOff x="0" y="0"/>
            <a:chExt cx="2110038" cy="1187561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110038" cy="1187561"/>
            </a:xfrm>
            <a:custGeom>
              <a:avLst/>
              <a:gdLst/>
              <a:ahLst/>
              <a:cxnLst/>
              <a:rect r="r" b="b" t="t" l="l"/>
              <a:pathLst>
                <a:path h="1187561" w="2110038">
                  <a:moveTo>
                    <a:pt x="18772" y="0"/>
                  </a:moveTo>
                  <a:lnTo>
                    <a:pt x="2091266" y="0"/>
                  </a:lnTo>
                  <a:cubicBezTo>
                    <a:pt x="2096245" y="0"/>
                    <a:pt x="2101019" y="1978"/>
                    <a:pt x="2104540" y="5498"/>
                  </a:cubicBezTo>
                  <a:cubicBezTo>
                    <a:pt x="2108060" y="9019"/>
                    <a:pt x="2110038" y="13793"/>
                    <a:pt x="2110038" y="18772"/>
                  </a:cubicBezTo>
                  <a:lnTo>
                    <a:pt x="2110038" y="1168789"/>
                  </a:lnTo>
                  <a:cubicBezTo>
                    <a:pt x="2110038" y="1173768"/>
                    <a:pt x="2108060" y="1178543"/>
                    <a:pt x="2104540" y="1182063"/>
                  </a:cubicBezTo>
                  <a:cubicBezTo>
                    <a:pt x="2101019" y="1185583"/>
                    <a:pt x="2096245" y="1187561"/>
                    <a:pt x="2091266" y="1187561"/>
                  </a:cubicBezTo>
                  <a:lnTo>
                    <a:pt x="18772" y="1187561"/>
                  </a:lnTo>
                  <a:cubicBezTo>
                    <a:pt x="13793" y="1187561"/>
                    <a:pt x="9019" y="1185583"/>
                    <a:pt x="5498" y="1182063"/>
                  </a:cubicBezTo>
                  <a:cubicBezTo>
                    <a:pt x="1978" y="1178543"/>
                    <a:pt x="0" y="1173768"/>
                    <a:pt x="0" y="1168789"/>
                  </a:cubicBezTo>
                  <a:lnTo>
                    <a:pt x="0" y="18772"/>
                  </a:lnTo>
                  <a:cubicBezTo>
                    <a:pt x="0" y="13793"/>
                    <a:pt x="1978" y="9019"/>
                    <a:pt x="5498" y="5498"/>
                  </a:cubicBezTo>
                  <a:cubicBezTo>
                    <a:pt x="9019" y="1978"/>
                    <a:pt x="13793" y="0"/>
                    <a:pt x="18772" y="0"/>
                  </a:cubicBezTo>
                  <a:close/>
                </a:path>
              </a:pathLst>
            </a:custGeom>
            <a:solidFill>
              <a:srgbClr val="000000"/>
            </a:solidFill>
            <a:ln w="19050" cap="sq">
              <a:solidFill>
                <a:srgbClr val="444444"/>
              </a:solidFill>
              <a:prstDash val="solid"/>
              <a:miter/>
            </a:ln>
          </p:spPr>
        </p:sp>
        <p:sp>
          <p:nvSpPr>
            <p:cNvPr name="TextBox 59" id="59"/>
            <p:cNvSpPr txBox="true"/>
            <p:nvPr/>
          </p:nvSpPr>
          <p:spPr>
            <a:xfrm>
              <a:off x="0" y="28575"/>
              <a:ext cx="2110038" cy="1158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9356517" y="5400675"/>
            <a:ext cx="8248475" cy="838439"/>
            <a:chOff x="0" y="0"/>
            <a:chExt cx="10997967" cy="1117919"/>
          </a:xfrm>
        </p:grpSpPr>
        <p:grpSp>
          <p:nvGrpSpPr>
            <p:cNvPr name="Group 61" id="61"/>
            <p:cNvGrpSpPr/>
            <p:nvPr/>
          </p:nvGrpSpPr>
          <p:grpSpPr>
            <a:xfrm rot="0">
              <a:off x="0" y="0"/>
              <a:ext cx="10997967" cy="1117919"/>
              <a:chOff x="0" y="0"/>
              <a:chExt cx="2110038" cy="214481"/>
            </a:xfrm>
          </p:grpSpPr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2110038" cy="214481"/>
              </a:xfrm>
              <a:custGeom>
                <a:avLst/>
                <a:gdLst/>
                <a:ahLst/>
                <a:cxnLst/>
                <a:rect r="r" b="b" t="t" l="l"/>
                <a:pathLst>
                  <a:path h="214481" w="2110038">
                    <a:moveTo>
                      <a:pt x="19327" y="0"/>
                    </a:moveTo>
                    <a:lnTo>
                      <a:pt x="2090711" y="0"/>
                    </a:lnTo>
                    <a:cubicBezTo>
                      <a:pt x="2095837" y="0"/>
                      <a:pt x="2100753" y="2036"/>
                      <a:pt x="2104377" y="5661"/>
                    </a:cubicBezTo>
                    <a:cubicBezTo>
                      <a:pt x="2108002" y="9285"/>
                      <a:pt x="2110038" y="14201"/>
                      <a:pt x="2110038" y="19327"/>
                    </a:cubicBezTo>
                    <a:lnTo>
                      <a:pt x="2110038" y="195154"/>
                    </a:lnTo>
                    <a:cubicBezTo>
                      <a:pt x="2110038" y="200280"/>
                      <a:pt x="2108002" y="205195"/>
                      <a:pt x="2104377" y="208820"/>
                    </a:cubicBezTo>
                    <a:cubicBezTo>
                      <a:pt x="2100753" y="212444"/>
                      <a:pt x="2095837" y="214481"/>
                      <a:pt x="2090711" y="214481"/>
                    </a:cubicBezTo>
                    <a:lnTo>
                      <a:pt x="19327" y="214481"/>
                    </a:lnTo>
                    <a:cubicBezTo>
                      <a:pt x="14201" y="214481"/>
                      <a:pt x="9285" y="212444"/>
                      <a:pt x="5661" y="208820"/>
                    </a:cubicBezTo>
                    <a:cubicBezTo>
                      <a:pt x="2036" y="205195"/>
                      <a:pt x="0" y="200280"/>
                      <a:pt x="0" y="195154"/>
                    </a:cubicBezTo>
                    <a:lnTo>
                      <a:pt x="0" y="19327"/>
                    </a:lnTo>
                    <a:cubicBezTo>
                      <a:pt x="0" y="14201"/>
                      <a:pt x="2036" y="9285"/>
                      <a:pt x="5661" y="5661"/>
                    </a:cubicBezTo>
                    <a:cubicBezTo>
                      <a:pt x="9285" y="2036"/>
                      <a:pt x="14201" y="0"/>
                      <a:pt x="19327" y="0"/>
                    </a:cubicBezTo>
                    <a:close/>
                  </a:path>
                </a:pathLst>
              </a:custGeom>
              <a:solidFill>
                <a:srgbClr val="1E1E1E"/>
              </a:solidFill>
              <a:ln w="1905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63" id="63"/>
              <p:cNvSpPr txBox="true"/>
              <p:nvPr/>
            </p:nvSpPr>
            <p:spPr>
              <a:xfrm>
                <a:off x="0" y="38100"/>
                <a:ext cx="2110038" cy="17638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99"/>
                  </a:lnSpc>
                </a:pPr>
              </a:p>
            </p:txBody>
          </p:sp>
        </p:grpSp>
        <p:grpSp>
          <p:nvGrpSpPr>
            <p:cNvPr name="Group 64" id="64"/>
            <p:cNvGrpSpPr/>
            <p:nvPr/>
          </p:nvGrpSpPr>
          <p:grpSpPr>
            <a:xfrm rot="0">
              <a:off x="1160372" y="436754"/>
              <a:ext cx="231126" cy="233409"/>
              <a:chOff x="0" y="0"/>
              <a:chExt cx="804851" cy="812800"/>
            </a:xfrm>
          </p:grpSpPr>
          <p:sp>
            <p:nvSpPr>
              <p:cNvPr name="Freeform 65" id="65"/>
              <p:cNvSpPr/>
              <p:nvPr/>
            </p:nvSpPr>
            <p:spPr>
              <a:xfrm flipH="false" flipV="false" rot="0">
                <a:off x="0" y="0"/>
                <a:ext cx="804851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04851">
                    <a:moveTo>
                      <a:pt x="402425" y="0"/>
                    </a:moveTo>
                    <a:cubicBezTo>
                      <a:pt x="180172" y="0"/>
                      <a:pt x="0" y="181951"/>
                      <a:pt x="0" y="406400"/>
                    </a:cubicBezTo>
                    <a:cubicBezTo>
                      <a:pt x="0" y="630849"/>
                      <a:pt x="180172" y="812800"/>
                      <a:pt x="402425" y="812800"/>
                    </a:cubicBezTo>
                    <a:cubicBezTo>
                      <a:pt x="624679" y="812800"/>
                      <a:pt x="804851" y="630849"/>
                      <a:pt x="804851" y="406400"/>
                    </a:cubicBezTo>
                    <a:cubicBezTo>
                      <a:pt x="804851" y="181951"/>
                      <a:pt x="624679" y="0"/>
                      <a:pt x="402425" y="0"/>
                    </a:cubicBezTo>
                    <a:close/>
                  </a:path>
                </a:pathLst>
              </a:custGeom>
              <a:solidFill>
                <a:srgbClr val="71FF88"/>
              </a:solidFill>
            </p:spPr>
          </p:sp>
          <p:sp>
            <p:nvSpPr>
              <p:cNvPr name="TextBox 66" id="66"/>
              <p:cNvSpPr txBox="true"/>
              <p:nvPr/>
            </p:nvSpPr>
            <p:spPr>
              <a:xfrm>
                <a:off x="75455" y="114300"/>
                <a:ext cx="653941" cy="622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99"/>
                  </a:lnSpc>
                </a:pPr>
              </a:p>
            </p:txBody>
          </p:sp>
        </p:grpSp>
        <p:grpSp>
          <p:nvGrpSpPr>
            <p:cNvPr name="Group 67" id="67"/>
            <p:cNvGrpSpPr/>
            <p:nvPr/>
          </p:nvGrpSpPr>
          <p:grpSpPr>
            <a:xfrm rot="0">
              <a:off x="797440" y="436754"/>
              <a:ext cx="231126" cy="233409"/>
              <a:chOff x="0" y="0"/>
              <a:chExt cx="804851" cy="812800"/>
            </a:xfrm>
          </p:grpSpPr>
          <p:sp>
            <p:nvSpPr>
              <p:cNvPr name="Freeform 68" id="68"/>
              <p:cNvSpPr/>
              <p:nvPr/>
            </p:nvSpPr>
            <p:spPr>
              <a:xfrm flipH="false" flipV="false" rot="0">
                <a:off x="0" y="0"/>
                <a:ext cx="804851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04851">
                    <a:moveTo>
                      <a:pt x="402425" y="0"/>
                    </a:moveTo>
                    <a:cubicBezTo>
                      <a:pt x="180172" y="0"/>
                      <a:pt x="0" y="181951"/>
                      <a:pt x="0" y="406400"/>
                    </a:cubicBezTo>
                    <a:cubicBezTo>
                      <a:pt x="0" y="630849"/>
                      <a:pt x="180172" y="812800"/>
                      <a:pt x="402425" y="812800"/>
                    </a:cubicBezTo>
                    <a:cubicBezTo>
                      <a:pt x="624679" y="812800"/>
                      <a:pt x="804851" y="630849"/>
                      <a:pt x="804851" y="406400"/>
                    </a:cubicBezTo>
                    <a:cubicBezTo>
                      <a:pt x="804851" y="181951"/>
                      <a:pt x="624679" y="0"/>
                      <a:pt x="402425" y="0"/>
                    </a:cubicBezTo>
                    <a:close/>
                  </a:path>
                </a:pathLst>
              </a:custGeom>
              <a:solidFill>
                <a:srgbClr val="FFDC71"/>
              </a:solidFill>
            </p:spPr>
          </p:sp>
          <p:sp>
            <p:nvSpPr>
              <p:cNvPr name="TextBox 69" id="69"/>
              <p:cNvSpPr txBox="true"/>
              <p:nvPr/>
            </p:nvSpPr>
            <p:spPr>
              <a:xfrm>
                <a:off x="75455" y="114300"/>
                <a:ext cx="653941" cy="622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99"/>
                  </a:lnSpc>
                </a:pPr>
              </a:p>
            </p:txBody>
          </p:sp>
        </p:grpSp>
        <p:grpSp>
          <p:nvGrpSpPr>
            <p:cNvPr name="Group 70" id="70"/>
            <p:cNvGrpSpPr/>
            <p:nvPr/>
          </p:nvGrpSpPr>
          <p:grpSpPr>
            <a:xfrm rot="0">
              <a:off x="436836" y="436754"/>
              <a:ext cx="231126" cy="233409"/>
              <a:chOff x="0" y="0"/>
              <a:chExt cx="804851" cy="812800"/>
            </a:xfrm>
          </p:grpSpPr>
          <p:sp>
            <p:nvSpPr>
              <p:cNvPr name="Freeform 71" id="71"/>
              <p:cNvSpPr/>
              <p:nvPr/>
            </p:nvSpPr>
            <p:spPr>
              <a:xfrm flipH="false" flipV="false" rot="0">
                <a:off x="0" y="0"/>
                <a:ext cx="804851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04851">
                    <a:moveTo>
                      <a:pt x="402425" y="0"/>
                    </a:moveTo>
                    <a:cubicBezTo>
                      <a:pt x="180172" y="0"/>
                      <a:pt x="0" y="181951"/>
                      <a:pt x="0" y="406400"/>
                    </a:cubicBezTo>
                    <a:cubicBezTo>
                      <a:pt x="0" y="630849"/>
                      <a:pt x="180172" y="812800"/>
                      <a:pt x="402425" y="812800"/>
                    </a:cubicBezTo>
                    <a:cubicBezTo>
                      <a:pt x="624679" y="812800"/>
                      <a:pt x="804851" y="630849"/>
                      <a:pt x="804851" y="406400"/>
                    </a:cubicBezTo>
                    <a:cubicBezTo>
                      <a:pt x="804851" y="181951"/>
                      <a:pt x="624679" y="0"/>
                      <a:pt x="402425" y="0"/>
                    </a:cubicBezTo>
                    <a:close/>
                  </a:path>
                </a:pathLst>
              </a:custGeom>
              <a:solidFill>
                <a:srgbClr val="FF7171"/>
              </a:solidFill>
            </p:spPr>
          </p:sp>
          <p:sp>
            <p:nvSpPr>
              <p:cNvPr name="TextBox 72" id="72"/>
              <p:cNvSpPr txBox="true"/>
              <p:nvPr/>
            </p:nvSpPr>
            <p:spPr>
              <a:xfrm>
                <a:off x="75455" y="114300"/>
                <a:ext cx="653941" cy="622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99"/>
                  </a:lnSpc>
                </a:pPr>
              </a:p>
            </p:txBody>
          </p:sp>
        </p:grpSp>
      </p:grpSp>
      <p:sp>
        <p:nvSpPr>
          <p:cNvPr name="TextBox 73" id="73"/>
          <p:cNvSpPr txBox="true"/>
          <p:nvPr/>
        </p:nvSpPr>
        <p:spPr>
          <a:xfrm rot="0">
            <a:off x="9677371" y="6478867"/>
            <a:ext cx="7606768" cy="3276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while (!glfwWind</a:t>
            </a: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owShouldClose(window)) {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glfwPollEvents();</a:t>
            </a:r>
          </a:p>
          <a:p>
            <a:pPr algn="l">
              <a:lnSpc>
                <a:spcPts val="1496"/>
              </a:lnSpc>
            </a:pP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ImGui_ImplOpenGL3_NewFrame();                     </a:t>
            </a:r>
            <a:r>
              <a:rPr lang="en-US" sz="1247" b="true">
                <a:solidFill>
                  <a:srgbClr val="71FF88"/>
                </a:solidFill>
                <a:latin typeface="Consolas Bold"/>
                <a:ea typeface="Consolas Bold"/>
                <a:cs typeface="Consolas Bold"/>
                <a:sym typeface="Consolas Bold"/>
              </a:rPr>
              <a:t>// Start ImGui Frame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ImGui_ImplGlfw_NewFrame();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ImGui::NewFrame();</a:t>
            </a:r>
          </a:p>
          <a:p>
            <a:pPr algn="l">
              <a:lnSpc>
                <a:spcPts val="1496"/>
              </a:lnSpc>
            </a:pP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RenderDesktop();                                 </a:t>
            </a:r>
            <a:r>
              <a:rPr lang="en-US" sz="1247" b="true">
                <a:solidFill>
                  <a:srgbClr val="71FF88"/>
                </a:solidFill>
                <a:latin typeface="Consolas Bold"/>
                <a:ea typeface="Consolas Bold"/>
                <a:cs typeface="Consolas Bold"/>
                <a:sym typeface="Consolas Bold"/>
              </a:rPr>
              <a:t> </a:t>
            </a:r>
            <a:r>
              <a:rPr lang="en-US" sz="1247">
                <a:solidFill>
                  <a:srgbClr val="71FF88"/>
                </a:solidFill>
                <a:latin typeface="Consolas"/>
                <a:ea typeface="Consolas"/>
                <a:cs typeface="Consolas"/>
                <a:sym typeface="Consolas"/>
              </a:rPr>
              <a:t>// Render OS Layers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RenderTaskbar();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if (g_ShowTaskManager) RenderTaskManager();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ImGui::Render();                                  </a:t>
            </a:r>
            <a:r>
              <a:rPr lang="en-US" sz="1247" b="true">
                <a:solidFill>
                  <a:srgbClr val="71FF88"/>
                </a:solidFill>
                <a:latin typeface="Consolas Bold"/>
                <a:ea typeface="Consolas Bold"/>
                <a:cs typeface="Consolas Bold"/>
                <a:sym typeface="Consolas Bold"/>
              </a:rPr>
              <a:t>// GPU Render &amp; Buffer Swap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glViewport(0, 0, display_w, display_h);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glClearColor(0.08f, 0.08f, 0.08f, 1.00f);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glClear(GL_COLOR_BUFFER_BIT);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ImGui_ImplOpenGL3_RenderDrawData(ImGui::GetDrawData());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   glfwSwapBuffers(window);</a:t>
            </a:r>
          </a:p>
          <a:p>
            <a:pPr algn="l">
              <a:lnSpc>
                <a:spcPts val="1496"/>
              </a:lnSpc>
            </a:pPr>
            <a:r>
              <a:rPr lang="en-US" sz="12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}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0743889" y="5687786"/>
            <a:ext cx="6240022" cy="276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76"/>
              </a:lnSpc>
            </a:pPr>
            <a:r>
              <a:rPr lang="en-US" sz="1647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Main Loop Rundown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2251732"/>
            <a:ext cx="16230600" cy="7280523"/>
            <a:chOff x="0" y="0"/>
            <a:chExt cx="4274726" cy="191750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74726" cy="1917504"/>
            </a:xfrm>
            <a:custGeom>
              <a:avLst/>
              <a:gdLst/>
              <a:ahLst/>
              <a:cxnLst/>
              <a:rect r="r" b="b" t="t" l="l"/>
              <a:pathLst>
                <a:path h="1917504" w="4274726">
                  <a:moveTo>
                    <a:pt x="9540" y="0"/>
                  </a:moveTo>
                  <a:lnTo>
                    <a:pt x="4265186" y="0"/>
                  </a:lnTo>
                  <a:cubicBezTo>
                    <a:pt x="4270455" y="0"/>
                    <a:pt x="4274726" y="4271"/>
                    <a:pt x="4274726" y="9540"/>
                  </a:cubicBezTo>
                  <a:lnTo>
                    <a:pt x="4274726" y="1907964"/>
                  </a:lnTo>
                  <a:cubicBezTo>
                    <a:pt x="4274726" y="1910494"/>
                    <a:pt x="4273721" y="1912921"/>
                    <a:pt x="4271932" y="1914710"/>
                  </a:cubicBezTo>
                  <a:cubicBezTo>
                    <a:pt x="4270143" y="1916499"/>
                    <a:pt x="4267716" y="1917504"/>
                    <a:pt x="4265186" y="1917504"/>
                  </a:cubicBezTo>
                  <a:lnTo>
                    <a:pt x="9540" y="1917504"/>
                  </a:lnTo>
                  <a:cubicBezTo>
                    <a:pt x="4271" y="1917504"/>
                    <a:pt x="0" y="1913233"/>
                    <a:pt x="0" y="1907964"/>
                  </a:cubicBezTo>
                  <a:lnTo>
                    <a:pt x="0" y="9540"/>
                  </a:lnTo>
                  <a:cubicBezTo>
                    <a:pt x="0" y="4271"/>
                    <a:pt x="4271" y="0"/>
                    <a:pt x="9540" y="0"/>
                  </a:cubicBezTo>
                  <a:close/>
                </a:path>
              </a:pathLst>
            </a:custGeom>
            <a:solidFill>
              <a:srgbClr val="000000"/>
            </a:solidFill>
            <a:ln w="19050" cap="sq">
              <a:solidFill>
                <a:srgbClr val="444444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4274726" cy="18889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1933575"/>
            <a:ext cx="16230600" cy="814356"/>
            <a:chOff x="0" y="0"/>
            <a:chExt cx="4274726" cy="21448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274726" cy="214481"/>
            </a:xfrm>
            <a:custGeom>
              <a:avLst/>
              <a:gdLst/>
              <a:ahLst/>
              <a:cxnLst/>
              <a:rect r="r" b="b" t="t" l="l"/>
              <a:pathLst>
                <a:path h="214481" w="4274726">
                  <a:moveTo>
                    <a:pt x="9540" y="0"/>
                  </a:moveTo>
                  <a:lnTo>
                    <a:pt x="4265186" y="0"/>
                  </a:lnTo>
                  <a:cubicBezTo>
                    <a:pt x="4270455" y="0"/>
                    <a:pt x="4274726" y="4271"/>
                    <a:pt x="4274726" y="9540"/>
                  </a:cubicBezTo>
                  <a:lnTo>
                    <a:pt x="4274726" y="204941"/>
                  </a:lnTo>
                  <a:cubicBezTo>
                    <a:pt x="4274726" y="207471"/>
                    <a:pt x="4273721" y="209897"/>
                    <a:pt x="4271932" y="211687"/>
                  </a:cubicBezTo>
                  <a:cubicBezTo>
                    <a:pt x="4270143" y="213476"/>
                    <a:pt x="4267716" y="214481"/>
                    <a:pt x="4265186" y="214481"/>
                  </a:cubicBezTo>
                  <a:lnTo>
                    <a:pt x="9540" y="214481"/>
                  </a:lnTo>
                  <a:cubicBezTo>
                    <a:pt x="4271" y="214481"/>
                    <a:pt x="0" y="210210"/>
                    <a:pt x="0" y="204941"/>
                  </a:cubicBezTo>
                  <a:lnTo>
                    <a:pt x="0" y="9540"/>
                  </a:lnTo>
                  <a:cubicBezTo>
                    <a:pt x="0" y="4271"/>
                    <a:pt x="4271" y="0"/>
                    <a:pt x="9540" y="0"/>
                  </a:cubicBezTo>
                  <a:close/>
                </a:path>
              </a:pathLst>
            </a:custGeom>
            <a:solidFill>
              <a:srgbClr val="1E1E1E"/>
            </a:solidFill>
            <a:ln w="19050" cap="sq">
              <a:solidFill>
                <a:srgbClr val="444444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28575"/>
              <a:ext cx="4274726" cy="1859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873982" y="2251732"/>
            <a:ext cx="168366" cy="170029"/>
            <a:chOff x="0" y="0"/>
            <a:chExt cx="804851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04851" cy="812800"/>
            </a:xfrm>
            <a:custGeom>
              <a:avLst/>
              <a:gdLst/>
              <a:ahLst/>
              <a:cxnLst/>
              <a:rect r="r" b="b" t="t" l="l"/>
              <a:pathLst>
                <a:path h="812800" w="804851">
                  <a:moveTo>
                    <a:pt x="402425" y="0"/>
                  </a:moveTo>
                  <a:cubicBezTo>
                    <a:pt x="180172" y="0"/>
                    <a:pt x="0" y="181951"/>
                    <a:pt x="0" y="406400"/>
                  </a:cubicBezTo>
                  <a:cubicBezTo>
                    <a:pt x="0" y="630849"/>
                    <a:pt x="180172" y="812800"/>
                    <a:pt x="402425" y="812800"/>
                  </a:cubicBezTo>
                  <a:cubicBezTo>
                    <a:pt x="624679" y="812800"/>
                    <a:pt x="804851" y="630849"/>
                    <a:pt x="804851" y="406400"/>
                  </a:cubicBezTo>
                  <a:cubicBezTo>
                    <a:pt x="804851" y="181951"/>
                    <a:pt x="624679" y="0"/>
                    <a:pt x="402425" y="0"/>
                  </a:cubicBezTo>
                  <a:close/>
                </a:path>
              </a:pathLst>
            </a:custGeom>
            <a:solidFill>
              <a:srgbClr val="71FF88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5455" y="104775"/>
              <a:ext cx="653941" cy="6318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609601" y="2251732"/>
            <a:ext cx="168366" cy="170029"/>
            <a:chOff x="0" y="0"/>
            <a:chExt cx="804851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04851" cy="812800"/>
            </a:xfrm>
            <a:custGeom>
              <a:avLst/>
              <a:gdLst/>
              <a:ahLst/>
              <a:cxnLst/>
              <a:rect r="r" b="b" t="t" l="l"/>
              <a:pathLst>
                <a:path h="812800" w="804851">
                  <a:moveTo>
                    <a:pt x="402425" y="0"/>
                  </a:moveTo>
                  <a:cubicBezTo>
                    <a:pt x="180172" y="0"/>
                    <a:pt x="0" y="181951"/>
                    <a:pt x="0" y="406400"/>
                  </a:cubicBezTo>
                  <a:cubicBezTo>
                    <a:pt x="0" y="630849"/>
                    <a:pt x="180172" y="812800"/>
                    <a:pt x="402425" y="812800"/>
                  </a:cubicBezTo>
                  <a:cubicBezTo>
                    <a:pt x="624679" y="812800"/>
                    <a:pt x="804851" y="630849"/>
                    <a:pt x="804851" y="406400"/>
                  </a:cubicBezTo>
                  <a:cubicBezTo>
                    <a:pt x="804851" y="181951"/>
                    <a:pt x="624679" y="0"/>
                    <a:pt x="402425" y="0"/>
                  </a:cubicBezTo>
                  <a:close/>
                </a:path>
              </a:pathLst>
            </a:custGeom>
            <a:solidFill>
              <a:srgbClr val="FFDC71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5455" y="104775"/>
              <a:ext cx="653941" cy="6318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346917" y="2251732"/>
            <a:ext cx="168366" cy="170029"/>
            <a:chOff x="0" y="0"/>
            <a:chExt cx="804851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04851" cy="812800"/>
            </a:xfrm>
            <a:custGeom>
              <a:avLst/>
              <a:gdLst/>
              <a:ahLst/>
              <a:cxnLst/>
              <a:rect r="r" b="b" t="t" l="l"/>
              <a:pathLst>
                <a:path h="812800" w="804851">
                  <a:moveTo>
                    <a:pt x="402425" y="0"/>
                  </a:moveTo>
                  <a:cubicBezTo>
                    <a:pt x="180172" y="0"/>
                    <a:pt x="0" y="181951"/>
                    <a:pt x="0" y="406400"/>
                  </a:cubicBezTo>
                  <a:cubicBezTo>
                    <a:pt x="0" y="630849"/>
                    <a:pt x="180172" y="812800"/>
                    <a:pt x="402425" y="812800"/>
                  </a:cubicBezTo>
                  <a:cubicBezTo>
                    <a:pt x="624679" y="812800"/>
                    <a:pt x="804851" y="630849"/>
                    <a:pt x="804851" y="406400"/>
                  </a:cubicBezTo>
                  <a:cubicBezTo>
                    <a:pt x="804851" y="181951"/>
                    <a:pt x="624679" y="0"/>
                    <a:pt x="402425" y="0"/>
                  </a:cubicBezTo>
                  <a:close/>
                </a:path>
              </a:pathLst>
            </a:custGeom>
            <a:solidFill>
              <a:srgbClr val="FF7171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5455" y="104775"/>
              <a:ext cx="653941" cy="6318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028700" y="695325"/>
            <a:ext cx="16181354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60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D</a:t>
            </a:r>
            <a:r>
              <a:rPr lang="en-US" sz="60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esign Implementation of OS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34386" y="2958681"/>
            <a:ext cx="15454679" cy="6233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9"/>
              </a:lnSpc>
            </a:pPr>
            <a:r>
              <a:rPr lang="en-US" sz="2099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// UI DESIGN</a:t>
            </a:r>
          </a:p>
          <a:p>
            <a:pPr algn="l">
              <a:lnSpc>
                <a:spcPts val="1679"/>
              </a:lnSpc>
            </a:pPr>
          </a:p>
          <a:p>
            <a:pPr algn="l" marL="453387" indent="-226693" lvl="1">
              <a:lnSpc>
                <a:spcPts val="2939"/>
              </a:lnSpc>
              <a:buFont typeface="Arial"/>
              <a:buChar char="•"/>
            </a:pPr>
            <a:r>
              <a:rPr lang="en-US" b="true" sz="2099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We implemented a custom wallpaper (surprise!) texture for the background, with an active system status indicator (online/stopped), while following the requirements of having a live clock.</a:t>
            </a:r>
          </a:p>
          <a:p>
            <a:pPr algn="l" marL="453387" indent="-226693" lvl="1">
              <a:lnSpc>
                <a:spcPts val="2939"/>
              </a:lnSpc>
              <a:buFont typeface="Arial"/>
              <a:buChar char="•"/>
            </a:pPr>
            <a:r>
              <a:rPr lang="en-US" b="true" sz="2099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A fixed bottom taskbar acts as the navigation area for the custom interactive buttons that were made.</a:t>
            </a:r>
          </a:p>
          <a:p>
            <a:pPr algn="l" marL="906774" indent="-302258" lvl="2">
              <a:lnSpc>
                <a:spcPts val="2939"/>
              </a:lnSpc>
              <a:buFont typeface="Arial"/>
              <a:buChar char="⚬"/>
            </a:pPr>
            <a:r>
              <a:rPr lang="en-US" b="true" sz="2099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Working buttons include the Start, Stop, File Explorer, Init, and Search</a:t>
            </a:r>
          </a:p>
          <a:p>
            <a:pPr algn="l">
              <a:lnSpc>
                <a:spcPts val="1679"/>
              </a:lnSpc>
            </a:pPr>
          </a:p>
          <a:p>
            <a:pPr algn="l">
              <a:lnSpc>
                <a:spcPts val="2939"/>
              </a:lnSpc>
            </a:pPr>
            <a:r>
              <a:rPr lang="en-US" sz="2099" b="true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// SYSTEM ARCHITECTURE DESIGN</a:t>
            </a:r>
          </a:p>
          <a:p>
            <a:pPr algn="l">
              <a:lnSpc>
                <a:spcPts val="1679"/>
              </a:lnSpc>
            </a:pPr>
          </a:p>
          <a:p>
            <a:pPr algn="l" marL="453387" indent="-226693" lvl="1">
              <a:lnSpc>
                <a:spcPts val="2939"/>
              </a:lnSpc>
              <a:buFont typeface="Arial"/>
              <a:buChar char="•"/>
            </a:pPr>
            <a:r>
              <a:rPr lang="en-US" b="true" sz="2099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The system follows a 3-tier layered architecture separating the Dear ImGui presentation layer, main.cpp OS logic, and the GLFW/OpenGL graphics backend.</a:t>
            </a:r>
          </a:p>
          <a:p>
            <a:pPr algn="l" marL="453387" indent="-226693" lvl="1">
              <a:lnSpc>
                <a:spcPts val="2939"/>
              </a:lnSpc>
              <a:buFont typeface="Arial"/>
              <a:buChar char="•"/>
            </a:pPr>
            <a:r>
              <a:rPr lang="en-US" b="true" sz="2099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Global boolean flags manage application state, controlling the toggle visibility of individual desktop windows and system online modes (online/stopped).</a:t>
            </a:r>
          </a:p>
          <a:p>
            <a:pPr algn="l" marL="453387" indent="-226693" lvl="1">
              <a:lnSpc>
                <a:spcPts val="2939"/>
              </a:lnSpc>
              <a:buFont typeface="Arial"/>
              <a:buChar char="•"/>
            </a:pPr>
            <a:r>
              <a:rPr lang="en-US" b="true" sz="2099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The custom wallpaper was</a:t>
            </a:r>
            <a:r>
              <a:rPr lang="en-US" b="true" sz="2099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 implemented using stb_image.h and uploaded directly into GPU memory as OpenGL 2D textures.</a:t>
            </a:r>
          </a:p>
          <a:p>
            <a:pPr algn="l" marL="453387" indent="-226693" lvl="1">
              <a:lnSpc>
                <a:spcPts val="2939"/>
              </a:lnSpc>
              <a:buFont typeface="Arial"/>
              <a:buChar char="•"/>
            </a:pPr>
            <a:r>
              <a:rPr lang="en-US" b="true" sz="2099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Unauthorized window closures via the title bar 'X' button are intercepted using glfwSetWindowCloseCallback and rejected unless the taskbar PWR button is clicked.</a:t>
            </a:r>
          </a:p>
          <a:p>
            <a:pPr algn="l" marL="453387" indent="-226693" lvl="1">
              <a:lnSpc>
                <a:spcPts val="2939"/>
              </a:lnSpc>
              <a:buFont typeface="Arial"/>
              <a:buChar char="•"/>
            </a:pPr>
            <a:r>
              <a:rPr lang="en-US" b="true" sz="2099">
                <a:solidFill>
                  <a:srgbClr val="B4B4B4"/>
                </a:solidFill>
                <a:latin typeface="Consolas Bold"/>
                <a:ea typeface="Consolas Bold"/>
                <a:cs typeface="Consolas Bold"/>
                <a:sym typeface="Consolas Bold"/>
              </a:rPr>
              <a:t>Live system time and date formatting are generated using C++ std::chrono and standard time utilities.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DAHVX3Bs7Is</dc:identifier>
  <dcterms:modified xsi:type="dcterms:W3CDTF">2011-08-01T06:04:30Z</dcterms:modified>
  <cp:revision>1</cp:revision>
  <dc:title>CSOPESY - MO4 Desktop</dc:title>
</cp:coreProperties>
</file>